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3" r:id="rId1"/>
  </p:sldMasterIdLst>
  <p:sldIdLst>
    <p:sldId id="256" r:id="rId2"/>
    <p:sldId id="263" r:id="rId3"/>
    <p:sldId id="257" r:id="rId4"/>
    <p:sldId id="261" r:id="rId5"/>
    <p:sldId id="264" r:id="rId6"/>
    <p:sldId id="267" r:id="rId7"/>
    <p:sldId id="268" r:id="rId8"/>
    <p:sldId id="266" r:id="rId9"/>
    <p:sldId id="285" r:id="rId10"/>
    <p:sldId id="271" r:id="rId11"/>
    <p:sldId id="286" r:id="rId12"/>
    <p:sldId id="270" r:id="rId13"/>
    <p:sldId id="274" r:id="rId14"/>
    <p:sldId id="279" r:id="rId15"/>
    <p:sldId id="262" r:id="rId16"/>
    <p:sldId id="283" r:id="rId17"/>
    <p:sldId id="284" r:id="rId18"/>
    <p:sldId id="288" r:id="rId19"/>
    <p:sldId id="258" r:id="rId20"/>
    <p:sldId id="281" r:id="rId21"/>
    <p:sldId id="282" r:id="rId22"/>
    <p:sldId id="33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22977B-C592-1946-8279-3E65DAC657DB}" v="45" dt="2026-04-30T06:47:47.744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01"/>
    <p:restoredTop sz="94646"/>
  </p:normalViewPr>
  <p:slideViewPr>
    <p:cSldViewPr snapToGrid="0">
      <p:cViewPr varScale="1">
        <p:scale>
          <a:sx n="104" d="100"/>
          <a:sy n="104" d="100"/>
        </p:scale>
        <p:origin x="24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7DEB51-E0E5-4871-B557-BF0AE7D440C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37BE41-868E-44C3-BCEA-98F053913AC6}">
      <dgm:prSet/>
      <dgm:spPr/>
      <dgm:t>
        <a:bodyPr/>
        <a:lstStyle/>
        <a:p>
          <a:r>
            <a:rPr lang="en-US"/>
            <a:t>Annotations</a:t>
          </a:r>
        </a:p>
      </dgm:t>
    </dgm:pt>
    <dgm:pt modelId="{3F7290FA-49B3-47F8-BBB5-01C513D0343E}" type="parTrans" cxnId="{91FE320C-A80C-4119-AABB-CFB34D35C351}">
      <dgm:prSet/>
      <dgm:spPr/>
      <dgm:t>
        <a:bodyPr/>
        <a:lstStyle/>
        <a:p>
          <a:endParaRPr lang="en-US"/>
        </a:p>
      </dgm:t>
    </dgm:pt>
    <dgm:pt modelId="{606083E9-B60E-4F85-9F5C-0EC781BB524C}" type="sibTrans" cxnId="{91FE320C-A80C-4119-AABB-CFB34D35C351}">
      <dgm:prSet/>
      <dgm:spPr/>
      <dgm:t>
        <a:bodyPr/>
        <a:lstStyle/>
        <a:p>
          <a:endParaRPr lang="en-US"/>
        </a:p>
      </dgm:t>
    </dgm:pt>
    <dgm:pt modelId="{EF8C6205-BA68-4B04-A998-9175C7D73F65}">
      <dgm:prSet/>
      <dgm:spPr/>
      <dgm:t>
        <a:bodyPr/>
        <a:lstStyle/>
        <a:p>
          <a:r>
            <a:rPr lang="en-US" dirty="0"/>
            <a:t>Reflections</a:t>
          </a:r>
        </a:p>
      </dgm:t>
    </dgm:pt>
    <dgm:pt modelId="{5EFB1595-685A-4A50-AEB6-8C09E630C5EC}" type="parTrans" cxnId="{372EE3D0-042B-4AC5-A180-614DB48D67B4}">
      <dgm:prSet/>
      <dgm:spPr/>
      <dgm:t>
        <a:bodyPr/>
        <a:lstStyle/>
        <a:p>
          <a:endParaRPr lang="en-US"/>
        </a:p>
      </dgm:t>
    </dgm:pt>
    <dgm:pt modelId="{76AAE73A-3191-4AAF-91D6-FA710921D078}" type="sibTrans" cxnId="{372EE3D0-042B-4AC5-A180-614DB48D67B4}">
      <dgm:prSet/>
      <dgm:spPr/>
      <dgm:t>
        <a:bodyPr/>
        <a:lstStyle/>
        <a:p>
          <a:endParaRPr lang="en-US"/>
        </a:p>
      </dgm:t>
    </dgm:pt>
    <dgm:pt modelId="{9C56BED9-7B3E-4A45-9CFA-9B421BEA3F2E}" type="pres">
      <dgm:prSet presAssocID="{D87DEB51-E0E5-4871-B557-BF0AE7D440CB}" presName="outerComposite" presStyleCnt="0">
        <dgm:presLayoutVars>
          <dgm:chMax val="5"/>
          <dgm:dir/>
          <dgm:resizeHandles val="exact"/>
        </dgm:presLayoutVars>
      </dgm:prSet>
      <dgm:spPr/>
    </dgm:pt>
    <dgm:pt modelId="{7ADBE166-3762-F744-8C95-F7CE9D226247}" type="pres">
      <dgm:prSet presAssocID="{D87DEB51-E0E5-4871-B557-BF0AE7D440CB}" presName="dummyMaxCanvas" presStyleCnt="0">
        <dgm:presLayoutVars/>
      </dgm:prSet>
      <dgm:spPr/>
    </dgm:pt>
    <dgm:pt modelId="{C21DB377-89E5-904A-B117-07606F551B2A}" type="pres">
      <dgm:prSet presAssocID="{D87DEB51-E0E5-4871-B557-BF0AE7D440CB}" presName="TwoNodes_1" presStyleLbl="node1" presStyleIdx="0" presStyleCnt="2">
        <dgm:presLayoutVars>
          <dgm:bulletEnabled val="1"/>
        </dgm:presLayoutVars>
      </dgm:prSet>
      <dgm:spPr/>
    </dgm:pt>
    <dgm:pt modelId="{3AFFFD62-905B-244D-A994-BF6F055C1A56}" type="pres">
      <dgm:prSet presAssocID="{D87DEB51-E0E5-4871-B557-BF0AE7D440CB}" presName="TwoNodes_2" presStyleLbl="node1" presStyleIdx="1" presStyleCnt="2">
        <dgm:presLayoutVars>
          <dgm:bulletEnabled val="1"/>
        </dgm:presLayoutVars>
      </dgm:prSet>
      <dgm:spPr/>
    </dgm:pt>
    <dgm:pt modelId="{9A4B8C9D-4DE0-2D43-9B73-CA40068A2DF3}" type="pres">
      <dgm:prSet presAssocID="{D87DEB51-E0E5-4871-B557-BF0AE7D440CB}" presName="TwoConn_1-2" presStyleLbl="fgAccFollowNode1" presStyleIdx="0" presStyleCnt="1">
        <dgm:presLayoutVars>
          <dgm:bulletEnabled val="1"/>
        </dgm:presLayoutVars>
      </dgm:prSet>
      <dgm:spPr/>
    </dgm:pt>
    <dgm:pt modelId="{0F8C0E85-77AE-9F44-8F48-C01049BFBF1D}" type="pres">
      <dgm:prSet presAssocID="{D87DEB51-E0E5-4871-B557-BF0AE7D440CB}" presName="TwoNodes_1_text" presStyleLbl="node1" presStyleIdx="1" presStyleCnt="2">
        <dgm:presLayoutVars>
          <dgm:bulletEnabled val="1"/>
        </dgm:presLayoutVars>
      </dgm:prSet>
      <dgm:spPr/>
    </dgm:pt>
    <dgm:pt modelId="{79C7F0BA-B904-8B45-B950-4D251CF810F7}" type="pres">
      <dgm:prSet presAssocID="{D87DEB51-E0E5-4871-B557-BF0AE7D440CB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91FE320C-A80C-4119-AABB-CFB34D35C351}" srcId="{D87DEB51-E0E5-4871-B557-BF0AE7D440CB}" destId="{2237BE41-868E-44C3-BCEA-98F053913AC6}" srcOrd="0" destOrd="0" parTransId="{3F7290FA-49B3-47F8-BBB5-01C513D0343E}" sibTransId="{606083E9-B60E-4F85-9F5C-0EC781BB524C}"/>
    <dgm:cxn modelId="{85D2DB11-A4F2-694E-B24B-49D77ECC4167}" type="presOf" srcId="{2237BE41-868E-44C3-BCEA-98F053913AC6}" destId="{0F8C0E85-77AE-9F44-8F48-C01049BFBF1D}" srcOrd="1" destOrd="0" presId="urn:microsoft.com/office/officeart/2005/8/layout/vProcess5"/>
    <dgm:cxn modelId="{A46EC63B-89F9-3240-AB79-9D1AEE23C186}" type="presOf" srcId="{EF8C6205-BA68-4B04-A998-9175C7D73F65}" destId="{3AFFFD62-905B-244D-A994-BF6F055C1A56}" srcOrd="0" destOrd="0" presId="urn:microsoft.com/office/officeart/2005/8/layout/vProcess5"/>
    <dgm:cxn modelId="{C71F9B4C-2288-0F49-B6D9-4189707255FC}" type="presOf" srcId="{D87DEB51-E0E5-4871-B557-BF0AE7D440CB}" destId="{9C56BED9-7B3E-4A45-9CFA-9B421BEA3F2E}" srcOrd="0" destOrd="0" presId="urn:microsoft.com/office/officeart/2005/8/layout/vProcess5"/>
    <dgm:cxn modelId="{8E294E9C-F658-F046-A445-4EBCBDAFF4CE}" type="presOf" srcId="{EF8C6205-BA68-4B04-A998-9175C7D73F65}" destId="{79C7F0BA-B904-8B45-B950-4D251CF810F7}" srcOrd="1" destOrd="0" presId="urn:microsoft.com/office/officeart/2005/8/layout/vProcess5"/>
    <dgm:cxn modelId="{9C7F21C5-1853-F446-BFD3-35D8572FD065}" type="presOf" srcId="{2237BE41-868E-44C3-BCEA-98F053913AC6}" destId="{C21DB377-89E5-904A-B117-07606F551B2A}" srcOrd="0" destOrd="0" presId="urn:microsoft.com/office/officeart/2005/8/layout/vProcess5"/>
    <dgm:cxn modelId="{372EE3D0-042B-4AC5-A180-614DB48D67B4}" srcId="{D87DEB51-E0E5-4871-B557-BF0AE7D440CB}" destId="{EF8C6205-BA68-4B04-A998-9175C7D73F65}" srcOrd="1" destOrd="0" parTransId="{5EFB1595-685A-4A50-AEB6-8C09E630C5EC}" sibTransId="{76AAE73A-3191-4AAF-91D6-FA710921D078}"/>
    <dgm:cxn modelId="{74419BF7-B55D-FF45-AB2D-8A0FD63F7C62}" type="presOf" srcId="{606083E9-B60E-4F85-9F5C-0EC781BB524C}" destId="{9A4B8C9D-4DE0-2D43-9B73-CA40068A2DF3}" srcOrd="0" destOrd="0" presId="urn:microsoft.com/office/officeart/2005/8/layout/vProcess5"/>
    <dgm:cxn modelId="{AFA146DC-887D-D14C-BE98-2F6DFE5C5148}" type="presParOf" srcId="{9C56BED9-7B3E-4A45-9CFA-9B421BEA3F2E}" destId="{7ADBE166-3762-F744-8C95-F7CE9D226247}" srcOrd="0" destOrd="0" presId="urn:microsoft.com/office/officeart/2005/8/layout/vProcess5"/>
    <dgm:cxn modelId="{AC7845DA-3BD4-074B-AB91-225569E909C6}" type="presParOf" srcId="{9C56BED9-7B3E-4A45-9CFA-9B421BEA3F2E}" destId="{C21DB377-89E5-904A-B117-07606F551B2A}" srcOrd="1" destOrd="0" presId="urn:microsoft.com/office/officeart/2005/8/layout/vProcess5"/>
    <dgm:cxn modelId="{E437E672-3C3A-D24E-8F63-C1F6568EA4EE}" type="presParOf" srcId="{9C56BED9-7B3E-4A45-9CFA-9B421BEA3F2E}" destId="{3AFFFD62-905B-244D-A994-BF6F055C1A56}" srcOrd="2" destOrd="0" presId="urn:microsoft.com/office/officeart/2005/8/layout/vProcess5"/>
    <dgm:cxn modelId="{E0FA2955-B0B4-2E46-9A91-0BF2BC264A67}" type="presParOf" srcId="{9C56BED9-7B3E-4A45-9CFA-9B421BEA3F2E}" destId="{9A4B8C9D-4DE0-2D43-9B73-CA40068A2DF3}" srcOrd="3" destOrd="0" presId="urn:microsoft.com/office/officeart/2005/8/layout/vProcess5"/>
    <dgm:cxn modelId="{548AC4FB-1EC6-4E43-8F41-2C0C20786E09}" type="presParOf" srcId="{9C56BED9-7B3E-4A45-9CFA-9B421BEA3F2E}" destId="{0F8C0E85-77AE-9F44-8F48-C01049BFBF1D}" srcOrd="4" destOrd="0" presId="urn:microsoft.com/office/officeart/2005/8/layout/vProcess5"/>
    <dgm:cxn modelId="{D653AD1E-7A78-CE44-BD3A-550516C9AA3D}" type="presParOf" srcId="{9C56BED9-7B3E-4A45-9CFA-9B421BEA3F2E}" destId="{79C7F0BA-B904-8B45-B950-4D251CF810F7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DB377-89E5-904A-B117-07606F551B2A}">
      <dsp:nvSpPr>
        <dsp:cNvPr id="0" name=""/>
        <dsp:cNvSpPr/>
      </dsp:nvSpPr>
      <dsp:spPr>
        <a:xfrm>
          <a:off x="0" y="0"/>
          <a:ext cx="9288654" cy="18867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Annotations</a:t>
          </a:r>
        </a:p>
      </dsp:txBody>
      <dsp:txXfrm>
        <a:off x="55261" y="55261"/>
        <a:ext cx="7338539" cy="1776240"/>
      </dsp:txXfrm>
    </dsp:sp>
    <dsp:sp modelId="{3AFFFD62-905B-244D-A994-BF6F055C1A56}">
      <dsp:nvSpPr>
        <dsp:cNvPr id="0" name=""/>
        <dsp:cNvSpPr/>
      </dsp:nvSpPr>
      <dsp:spPr>
        <a:xfrm>
          <a:off x="1639174" y="2306042"/>
          <a:ext cx="9288654" cy="1886762"/>
        </a:xfrm>
        <a:prstGeom prst="roundRect">
          <a:avLst>
            <a:gd name="adj" fmla="val 10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Reflections</a:t>
          </a:r>
        </a:p>
      </dsp:txBody>
      <dsp:txXfrm>
        <a:off x="1694435" y="2361303"/>
        <a:ext cx="6312562" cy="1776240"/>
      </dsp:txXfrm>
    </dsp:sp>
    <dsp:sp modelId="{9A4B8C9D-4DE0-2D43-9B73-CA40068A2DF3}">
      <dsp:nvSpPr>
        <dsp:cNvPr id="0" name=""/>
        <dsp:cNvSpPr/>
      </dsp:nvSpPr>
      <dsp:spPr>
        <a:xfrm>
          <a:off x="8062259" y="1483204"/>
          <a:ext cx="1226395" cy="1226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38198" y="1483204"/>
        <a:ext cx="674517" cy="922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70DC-C147-E7E4-157C-00564140D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E8B92-4624-9BC4-C0B3-A389D6972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F6B9-F838-4528-857A-5193E09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5557B-C7E1-E53D-A436-7E10F8F76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6DE4-C485-67A4-0943-187993D4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1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5A73-3322-5AA1-87AB-065D87AB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3E76-01B0-EC74-B346-41B269B3B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063C9-F97C-804B-11C3-CA775531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BA13-48CB-D861-2480-267A30A8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9E011-7E17-CD0D-7E4C-273B746C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7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F319-6969-0B24-B618-3583F13D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69CF9-BF83-6639-DF43-3749AE4D1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E9823-6E51-D51E-7600-59AD8A5F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30966-038E-49DE-10FA-A555C203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1942B-8945-A6E2-13E1-4E2CC200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9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23E8-AF6C-6DA0-C103-6D1B366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1D5B-E5B9-1279-5407-6633BA095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2B254-955A-2022-B7C5-1DE000AA6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31BC6-FC12-7708-E2EE-98900CD1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BFA54-49A2-0DFB-ED37-BA152F9B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68903-3A4C-65DB-9E2A-1581A580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4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93733-AA21-3FD0-05FC-12FB3373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B5B79-45AE-06D3-EBD5-9F9904CC4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AE4FC-249E-8513-48D3-82E0041CD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366BD-3DEA-82FD-3F21-4734ECC97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F7F1F-9FF3-B8C2-7586-ECC7ACA93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96BB2-82A4-3740-6FE7-4B83651F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8534CC-9D14-5F52-D2C5-6461BD60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8892F-379E-0E9F-264E-F8F0CFD7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9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CFE1-8675-0599-FB2F-A22D479A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5F8EB-FED2-DE55-3985-824D7BE8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8F04-1B89-072B-7293-57F0B443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28F31-897E-0109-937E-DC5835C8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2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A0ED5-6627-9906-45D1-DC7391D5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04D9F-6FD7-2485-BFDA-7E72F8E2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35207-0D58-9451-C445-22386B95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0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6695-AF07-020E-CBF9-06CC254F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96D3-2431-0876-C2F3-B44DEB165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5A06F-21E1-87EA-448F-D12263951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DE8C5-EBC9-99B3-866C-AE4E5148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CE9F9-7996-E604-B84C-6F2FF6AE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A3972-AF50-893D-6156-3BE818B6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6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B316-8EC1-D7EF-2F6C-879C20A4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638FA5-6E24-0A3E-2A47-C350C4FCB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B58E0-A9D8-5D57-4E0F-2B686B75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7D57F-A2CD-E40D-5CB1-526B68DC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23A8E-66BA-A951-B35C-423C10B8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DAD4A-2BFC-1EFF-90B3-44AFB378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4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C4F2-B078-DA13-8128-EF57A691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15C0D-2CCD-51F7-E0CF-C56557DEF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6F135-8ED2-3568-67DA-727547B3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BB0BF-345F-E152-912B-FF42081A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96D8D-F030-B652-ACE3-7A7558FD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6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EDFE1-DC6E-D7A6-92D4-2807816A1B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582A3-634A-43B7-92BF-20E213DE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DD307-8451-7D6B-8642-44D6B0BF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66CFE-3CEA-FDFD-441A-37C21AE1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7B127-AC74-3B5C-8134-5C83EAA9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2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81BF8-66E2-6CEB-4A39-98A945780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4BF68-1A51-E9EA-EA32-93ED99F39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071B7-8329-0E0B-0AB5-14DC57167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48AC0-D20C-D440-84BD-7B88210C91FB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B70EE-DF3F-7925-7F6A-1CE9863C1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57038-C1FE-1346-AF0B-545DCD921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0393E-07DB-0348-A01B-F6C04A67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3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F3125-4D6C-A1D8-4FA0-AC9757D32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Anwendungssysteme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B2398-A0B3-BFFE-C55B-85AF6498D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346321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941E8-EB22-7EB0-230E-5B6C551A39FA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TODO</a:t>
            </a:r>
          </a:p>
        </p:txBody>
      </p:sp>
      <p:graphicFrame>
        <p:nvGraphicFramePr>
          <p:cNvPr id="34" name="Content Placeholder 9">
            <a:extLst>
              <a:ext uri="{FF2B5EF4-FFF2-40B4-BE49-F238E27FC236}">
                <a16:creationId xmlns:a16="http://schemas.microsoft.com/office/drawing/2014/main" id="{18B5B821-3C53-5A5E-FED0-B0301F3C8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4017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127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634433-CDDB-BEA7-27CD-28CBF8234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Annotations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5E733ED-B17A-71F5-1F92-152B8087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435"/>
          <a:stretch>
            <a:fillRect/>
          </a:stretch>
        </p:blipFill>
        <p:spPr>
          <a:xfrm>
            <a:off x="258416" y="1736342"/>
            <a:ext cx="8820415" cy="974611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74C9E7E-FB81-2B1F-F05B-B9CBEF73D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845" y="4468388"/>
            <a:ext cx="5771947" cy="13852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47F7-998E-242A-23D8-24C294241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484" y="2870848"/>
            <a:ext cx="9496427" cy="1385266"/>
          </a:xfrm>
        </p:spPr>
        <p:txBody>
          <a:bodyPr>
            <a:normAutofit/>
          </a:bodyPr>
          <a:lstStyle/>
          <a:p>
            <a:r>
              <a:rPr lang="en-US" sz="2000" dirty="0" err="1"/>
              <a:t>Metadaten</a:t>
            </a:r>
            <a:r>
              <a:rPr lang="en-US" sz="2000" dirty="0"/>
              <a:t> </a:t>
            </a:r>
            <a:r>
              <a:rPr lang="en-US" sz="2000" dirty="0" err="1"/>
              <a:t>über</a:t>
            </a:r>
            <a:r>
              <a:rPr lang="en-US" sz="2000" dirty="0"/>
              <a:t> Code </a:t>
            </a:r>
          </a:p>
          <a:p>
            <a:r>
              <a:rPr lang="en-US" sz="2000" dirty="0" err="1"/>
              <a:t>Geben</a:t>
            </a:r>
            <a:r>
              <a:rPr lang="en-US" sz="2000" dirty="0"/>
              <a:t> </a:t>
            </a:r>
            <a:r>
              <a:rPr lang="en-US" sz="2000" b="1" dirty="0" err="1"/>
              <a:t>zusätzliche</a:t>
            </a:r>
            <a:r>
              <a:rPr lang="en-US" sz="2000" b="1" dirty="0"/>
              <a:t> </a:t>
            </a:r>
            <a:r>
              <a:rPr lang="en-US" sz="2000" b="1" dirty="0" err="1"/>
              <a:t>Informationen</a:t>
            </a:r>
            <a:r>
              <a:rPr lang="en-US" sz="2000" b="1" dirty="0"/>
              <a:t> </a:t>
            </a:r>
            <a:r>
              <a:rPr lang="en-US" sz="2000" dirty="0" err="1"/>
              <a:t>über</a:t>
            </a:r>
            <a:r>
              <a:rPr lang="en-US" sz="2000" dirty="0"/>
              <a:t> Klassen </a:t>
            </a:r>
          </a:p>
          <a:p>
            <a:r>
              <a:rPr lang="en-US" sz="2000" dirty="0" err="1"/>
              <a:t>Implementieren</a:t>
            </a:r>
            <a:r>
              <a:rPr lang="en-US" sz="2000" dirty="0"/>
              <a:t> </a:t>
            </a:r>
            <a:r>
              <a:rPr lang="en-US" sz="2000" b="1" dirty="0"/>
              <a:t>nicht </a:t>
            </a:r>
            <a:r>
              <a:rPr lang="en-US" sz="2000" b="1" dirty="0" err="1"/>
              <a:t>direkt</a:t>
            </a:r>
            <a:r>
              <a:rPr lang="en-US" sz="2000" b="1" dirty="0"/>
              <a:t> </a:t>
            </a:r>
            <a:r>
              <a:rPr lang="en-US" sz="2000" b="1" dirty="0" err="1"/>
              <a:t>Funktionalität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3110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53B5B74-219A-2DF0-4610-47796A9E54A1}"/>
              </a:ext>
            </a:extLst>
          </p:cNvPr>
          <p:cNvSpPr/>
          <p:nvPr/>
        </p:nvSpPr>
        <p:spPr>
          <a:xfrm>
            <a:off x="7611979" y="1703686"/>
            <a:ext cx="3741821" cy="122633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4F357-1F0E-648B-7338-A077AC74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Eigene</a:t>
            </a:r>
            <a:r>
              <a:rPr lang="en-US" dirty="0"/>
              <a:t> Annotation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CF59-925C-A072-C76A-75D8E4CC6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1" y="4095558"/>
            <a:ext cx="5574632" cy="1200329"/>
          </a:xfrm>
        </p:spPr>
        <p:txBody>
          <a:bodyPr/>
          <a:lstStyle/>
          <a:p>
            <a:r>
              <a:rPr lang="en-US" sz="2400" dirty="0" err="1"/>
              <a:t>Entweder</a:t>
            </a:r>
            <a:r>
              <a:rPr lang="en-US" sz="2400" dirty="0"/>
              <a:t> </a:t>
            </a:r>
            <a:r>
              <a:rPr lang="en-US" sz="2400" dirty="0" err="1"/>
              <a:t>makieren</a:t>
            </a:r>
            <a:r>
              <a:rPr lang="en-US" sz="2400" dirty="0"/>
              <a:t> </a:t>
            </a:r>
            <a:r>
              <a:rPr lang="en-US" sz="2400" dirty="0" err="1"/>
              <a:t>wir</a:t>
            </a:r>
            <a:r>
              <a:rPr lang="en-US" sz="2400" dirty="0"/>
              <a:t> </a:t>
            </a:r>
            <a:r>
              <a:rPr lang="en-US" sz="2400" dirty="0" err="1"/>
              <a:t>etwas</a:t>
            </a:r>
            <a:r>
              <a:rPr lang="en-US" sz="2400" dirty="0"/>
              <a:t> </a:t>
            </a:r>
            <a:r>
              <a:rPr lang="en-US" sz="2400" dirty="0" err="1"/>
              <a:t>oder</a:t>
            </a:r>
            <a:r>
              <a:rPr lang="en-US" sz="2400" dirty="0"/>
              <a:t> </a:t>
            </a:r>
            <a:r>
              <a:rPr lang="en-US" sz="2400" dirty="0" err="1"/>
              <a:t>wir</a:t>
            </a:r>
            <a:r>
              <a:rPr lang="en-US" sz="2400" dirty="0"/>
              <a:t> </a:t>
            </a:r>
            <a:r>
              <a:rPr lang="en-US" sz="2400" dirty="0" err="1"/>
              <a:t>halten</a:t>
            </a:r>
            <a:r>
              <a:rPr lang="en-US" sz="2400" dirty="0"/>
              <a:t> ”</a:t>
            </a:r>
            <a:r>
              <a:rPr lang="en-US" sz="2400" dirty="0" err="1"/>
              <a:t>Metadaten</a:t>
            </a:r>
            <a:r>
              <a:rPr lang="en-US" sz="2400" dirty="0"/>
              <a:t>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95E0D-81A2-2599-F9A2-73078B6A1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41" y="1811004"/>
            <a:ext cx="6997393" cy="20056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9BBA85-73FE-A29A-9097-6F0AF0F8D536}"/>
              </a:ext>
            </a:extLst>
          </p:cNvPr>
          <p:cNvSpPr txBox="1"/>
          <p:nvPr/>
        </p:nvSpPr>
        <p:spPr>
          <a:xfrm>
            <a:off x="7215801" y="3271326"/>
            <a:ext cx="6100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Wichtig:</a:t>
            </a:r>
            <a:endParaRPr lang="en-US" altLang="en-US" sz="2400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sieht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aus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wie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Methoden</a:t>
            </a:r>
            <a:endParaRPr lang="en-US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sind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aber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nur</a:t>
            </a: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Daten</a:t>
            </a: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Metadaten</a:t>
            </a: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0EDEEB-59BA-D63A-E87E-FAE3D6068C7E}"/>
              </a:ext>
            </a:extLst>
          </p:cNvPr>
          <p:cNvSpPr txBox="1"/>
          <p:nvPr/>
        </p:nvSpPr>
        <p:spPr>
          <a:xfrm>
            <a:off x="7793455" y="1716688"/>
            <a:ext cx="6503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</a:t>
            </a:r>
            <a:r>
              <a:rPr lang="en-US" dirty="0">
                <a:solidFill>
                  <a:srgbClr val="7030A0"/>
                </a:solidFill>
              </a:rPr>
              <a:t>@interface </a:t>
            </a:r>
            <a:r>
              <a:rPr lang="en-US" dirty="0"/>
              <a:t>Author {</a:t>
            </a:r>
          </a:p>
          <a:p>
            <a:r>
              <a:rPr lang="en-US" dirty="0"/>
              <a:t>    String name();</a:t>
            </a:r>
          </a:p>
          <a:p>
            <a:r>
              <a:rPr lang="en-US" dirty="0"/>
              <a:t>    String date();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1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0303-73AF-7047-1A67-B93B9D7E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A7556-E51E-B515-0D47-BC8875040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68" y="3232275"/>
            <a:ext cx="10515600" cy="347332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@Override -&gt; </a:t>
            </a:r>
            <a:r>
              <a:rPr lang="en-US" dirty="0" err="1">
                <a:highlight>
                  <a:srgbClr val="FFFF00"/>
                </a:highlight>
              </a:rPr>
              <a:t>prüft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Methodenüberschreibung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@SuppressWarnings -&gt;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Compiler </a:t>
            </a:r>
            <a:r>
              <a:rPr lang="en-US" alt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unterdrückt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Warnungen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@Deprecated -&gt; </a:t>
            </a:r>
            <a:r>
              <a:rPr lang="en-US" dirty="0" err="1">
                <a:highlight>
                  <a:srgbClr val="FFFF00"/>
                </a:highlight>
              </a:rPr>
              <a:t>markiert</a:t>
            </a:r>
            <a:r>
              <a:rPr lang="en-US" dirty="0">
                <a:highlight>
                  <a:srgbClr val="FFFF00"/>
                </a:highlight>
              </a:rPr>
              <a:t> Methode </a:t>
            </a:r>
            <a:r>
              <a:rPr lang="en-US" dirty="0" err="1">
                <a:highlight>
                  <a:srgbClr val="FFFF00"/>
                </a:highlight>
              </a:rPr>
              <a:t>als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veraltet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-&gt; </a:t>
            </a:r>
            <a:r>
              <a:rPr lang="en-US" dirty="0" err="1">
                <a:highlight>
                  <a:srgbClr val="FFFF00"/>
                </a:highlight>
              </a:rPr>
              <a:t>diese</a:t>
            </a:r>
            <a:r>
              <a:rPr lang="en-US" dirty="0">
                <a:highlight>
                  <a:srgbClr val="FFFF00"/>
                </a:highlight>
              </a:rPr>
              <a:t> annotations </a:t>
            </a:r>
            <a:r>
              <a:rPr lang="en-US" dirty="0" err="1">
                <a:highlight>
                  <a:srgbClr val="FFFF00"/>
                </a:highlight>
              </a:rPr>
              <a:t>sind</a:t>
            </a:r>
            <a:r>
              <a:rPr lang="en-US" dirty="0">
                <a:highlight>
                  <a:srgbClr val="FFFF00"/>
                </a:highlight>
              </a:rPr>
              <a:t> hart </a:t>
            </a:r>
            <a:r>
              <a:rPr lang="en-US" dirty="0" err="1">
                <a:highlight>
                  <a:srgbClr val="FFFF00"/>
                </a:highlight>
              </a:rPr>
              <a:t>implementiert</a:t>
            </a:r>
            <a:r>
              <a:rPr lang="en-US" dirty="0">
                <a:highlight>
                  <a:srgbClr val="FFFF00"/>
                </a:highlight>
              </a:rPr>
              <a:t> -&gt; Compiler </a:t>
            </a:r>
            <a:r>
              <a:rPr lang="en-US" dirty="0" err="1">
                <a:highlight>
                  <a:srgbClr val="FFFF00"/>
                </a:highlight>
              </a:rPr>
              <a:t>kennt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sie</a:t>
            </a:r>
            <a:r>
              <a:rPr lang="en-US" dirty="0">
                <a:highlight>
                  <a:srgbClr val="FFFF00"/>
                </a:highlight>
              </a:rPr>
              <a:t> und hat für </a:t>
            </a:r>
            <a:r>
              <a:rPr lang="en-US" dirty="0" err="1">
                <a:highlight>
                  <a:srgbClr val="FFFF00"/>
                </a:highlight>
              </a:rPr>
              <a:t>sie</a:t>
            </a:r>
            <a:r>
              <a:rPr lang="en-US" dirty="0">
                <a:highlight>
                  <a:srgbClr val="FFFF00"/>
                </a:highlight>
              </a:rPr>
              <a:t> logic </a:t>
            </a:r>
            <a:r>
              <a:rPr lang="en-US" dirty="0" err="1">
                <a:highlight>
                  <a:srgbClr val="FFFF00"/>
                </a:highlight>
              </a:rPr>
              <a:t>eingebaut</a:t>
            </a:r>
            <a:r>
              <a:rPr lang="en-US" dirty="0">
                <a:highlight>
                  <a:srgbClr val="FFFF00"/>
                </a:highlight>
              </a:rPr>
              <a:t> -&gt; </a:t>
            </a:r>
            <a:r>
              <a:rPr lang="en-US" dirty="0" err="1">
                <a:highlight>
                  <a:srgbClr val="FFFF00"/>
                </a:highlight>
              </a:rPr>
              <a:t>sie</a:t>
            </a:r>
            <a:r>
              <a:rPr lang="en-US" dirty="0">
                <a:highlight>
                  <a:srgbClr val="FFFF00"/>
                </a:highlight>
              </a:rPr>
              <a:t> Selbst </a:t>
            </a:r>
            <a:r>
              <a:rPr lang="en-US" dirty="0" err="1">
                <a:highlight>
                  <a:srgbClr val="FFFF00"/>
                </a:highlight>
              </a:rPr>
              <a:t>haben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keine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logik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D3AC36-4BB0-59C2-DFDC-7F509F632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03" r="43097" b="41093"/>
          <a:stretch>
            <a:fillRect/>
          </a:stretch>
        </p:blipFill>
        <p:spPr>
          <a:xfrm>
            <a:off x="230108" y="1415000"/>
            <a:ext cx="8167935" cy="69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6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22D1-FD45-88BB-01CD-4CFB0D755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8D5777-71E5-786F-3BD9-4BE3D9F42884}"/>
              </a:ext>
            </a:extLst>
          </p:cNvPr>
          <p:cNvSpPr/>
          <p:nvPr/>
        </p:nvSpPr>
        <p:spPr>
          <a:xfrm>
            <a:off x="6301541" y="1796742"/>
            <a:ext cx="5425485" cy="22637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E1225AF-DF1B-6463-4D04-D84F53C1C173}"/>
              </a:ext>
            </a:extLst>
          </p:cNvPr>
          <p:cNvSpPr/>
          <p:nvPr/>
        </p:nvSpPr>
        <p:spPr>
          <a:xfrm>
            <a:off x="721895" y="1859340"/>
            <a:ext cx="5245769" cy="197873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5D5E7-7088-2A73-CE51-9AFC59ED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Eigene</a:t>
            </a:r>
            <a:r>
              <a:rPr lang="en-US" dirty="0"/>
              <a:t> Annotation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336EB-75B0-B420-BA38-5BA208A9B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541" y="1897306"/>
            <a:ext cx="5890459" cy="1876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@ Example</a:t>
            </a:r>
            <a:r>
              <a:rPr lang="en-US" sz="2400" dirty="0"/>
              <a:t>(author = "TS", date = "2023”)</a:t>
            </a:r>
          </a:p>
          <a:p>
            <a:pPr marL="0" indent="0">
              <a:buNone/>
            </a:pPr>
            <a:r>
              <a:rPr lang="en-US" sz="2400" dirty="0"/>
              <a:t>public class HelloWorld {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A9249CA-BA49-9900-AB0A-EBDC5F56A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0CC721-CE11-3C96-7720-A65E7565E02A}"/>
              </a:ext>
            </a:extLst>
          </p:cNvPr>
          <p:cNvSpPr txBox="1"/>
          <p:nvPr/>
        </p:nvSpPr>
        <p:spPr>
          <a:xfrm>
            <a:off x="5410448" y="797073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Wir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wollen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 default Wert: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79CB7A-E710-F695-97CF-199C06C4C73A}"/>
              </a:ext>
            </a:extLst>
          </p:cNvPr>
          <p:cNvSpPr txBox="1"/>
          <p:nvPr/>
        </p:nvSpPr>
        <p:spPr>
          <a:xfrm>
            <a:off x="1031709" y="1897306"/>
            <a:ext cx="47193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public</a:t>
            </a:r>
            <a:r>
              <a:rPr lang="en-US" sz="2400" dirty="0">
                <a:solidFill>
                  <a:srgbClr val="7030A0"/>
                </a:solidFill>
              </a:rPr>
              <a:t> @interface </a:t>
            </a:r>
            <a:r>
              <a:rPr lang="en-US" sz="2400" dirty="0"/>
              <a:t>Example {</a:t>
            </a:r>
          </a:p>
          <a:p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String [] value() 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default 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"test";</a:t>
            </a:r>
          </a:p>
          <a:p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String author();</a:t>
            </a:r>
          </a:p>
          <a:p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String date()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}</a:t>
            </a:r>
            <a:endParaRPr lang="en-US" sz="24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4F8CFCD-8CDC-4A6A-D62C-4CABEA8B3152}"/>
              </a:ext>
            </a:extLst>
          </p:cNvPr>
          <p:cNvSpPr/>
          <p:nvPr/>
        </p:nvSpPr>
        <p:spPr>
          <a:xfrm>
            <a:off x="670515" y="4078192"/>
            <a:ext cx="5425485" cy="22637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0000"/>
                </a:solidFill>
              </a:rPr>
              <a:t>@ Example</a:t>
            </a:r>
            <a:r>
              <a:rPr lang="en-US" sz="2400" dirty="0"/>
              <a:t>(author = "TS", date = "2023”, value = {“Katze”, “Hund”})</a:t>
            </a:r>
          </a:p>
          <a:p>
            <a:r>
              <a:rPr lang="en-US" sz="2400" dirty="0"/>
              <a:t>public class HelloWorld {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7E9D1-45DB-BCFD-CC15-A7A65BC0B7F9}"/>
              </a:ext>
            </a:extLst>
          </p:cNvPr>
          <p:cNvSpPr txBox="1"/>
          <p:nvPr/>
        </p:nvSpPr>
        <p:spPr>
          <a:xfrm>
            <a:off x="6654800" y="4639926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effectLst/>
                <a:latin typeface="Helvetica" pitchFamily="2" charset="0"/>
              </a:rPr>
              <a:t>Supported return types:</a:t>
            </a:r>
          </a:p>
          <a:p>
            <a:pPr>
              <a:buNone/>
            </a:pPr>
            <a:r>
              <a:rPr lang="en-US" sz="2000" dirty="0">
                <a:solidFill>
                  <a:srgbClr val="7030A0"/>
                </a:solidFill>
                <a:effectLst/>
                <a:latin typeface="Helvetica" pitchFamily="2" charset="0"/>
              </a:rPr>
              <a:t>primitives, </a:t>
            </a:r>
            <a:r>
              <a:rPr lang="en-US" sz="2000" dirty="0">
                <a:solidFill>
                  <a:srgbClr val="7030A0"/>
                </a:solidFill>
                <a:latin typeface="Helvetica" pitchFamily="2" charset="0"/>
              </a:rPr>
              <a:t>E</a:t>
            </a:r>
            <a:r>
              <a:rPr lang="en-US" sz="2000" dirty="0">
                <a:solidFill>
                  <a:srgbClr val="7030A0"/>
                </a:solidFill>
                <a:effectLst/>
                <a:latin typeface="Helvetica" pitchFamily="2" charset="0"/>
              </a:rPr>
              <a:t>nums, annotations,</a:t>
            </a:r>
          </a:p>
          <a:p>
            <a:pPr>
              <a:buNone/>
            </a:pPr>
            <a:r>
              <a:rPr lang="en-US" sz="2000" dirty="0">
                <a:solidFill>
                  <a:srgbClr val="7030A0"/>
                </a:solidFill>
                <a:effectLst/>
                <a:latin typeface="Helvetica" pitchFamily="2" charset="0"/>
              </a:rPr>
              <a:t>String, Class, arrays of any of these </a:t>
            </a:r>
          </a:p>
        </p:txBody>
      </p:sp>
    </p:spTree>
    <p:extLst>
      <p:ext uri="{BB962C8B-B14F-4D97-AF65-F5344CB8AC3E}">
        <p14:creationId xmlns:p14="http://schemas.microsoft.com/office/powerpoint/2010/main" val="13355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2" grpId="0" build="p"/>
      <p:bldP spid="8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BA6A45-4932-05C8-7BDF-32DCF823F868}"/>
              </a:ext>
            </a:extLst>
          </p:cNvPr>
          <p:cNvSpPr/>
          <p:nvPr/>
        </p:nvSpPr>
        <p:spPr>
          <a:xfrm>
            <a:off x="6462295" y="455759"/>
            <a:ext cx="5245769" cy="197873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7FF57-78AE-DF12-B9D8-59344DB1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Fakt: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FC37-84A4-065D-F8D3-A44F09168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10" y="2709288"/>
            <a:ext cx="10515600" cy="880579"/>
          </a:xfrm>
        </p:spPr>
        <p:txBody>
          <a:bodyPr/>
          <a:lstStyle/>
          <a:p>
            <a:r>
              <a:rPr lang="en-US" dirty="0"/>
              <a:t>Wenn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Element </a:t>
            </a:r>
            <a:r>
              <a:rPr lang="en-US" dirty="0" err="1"/>
              <a:t>haben</a:t>
            </a:r>
            <a:r>
              <a:rPr lang="en-US" dirty="0"/>
              <a:t> -&gt; </a:t>
            </a:r>
            <a:r>
              <a:rPr lang="en-US" dirty="0" err="1"/>
              <a:t>nenne</a:t>
            </a:r>
            <a:r>
              <a:rPr lang="en-US" dirty="0"/>
              <a:t> es value()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1B133-433F-A227-D1F4-5CE14D639149}"/>
              </a:ext>
            </a:extLst>
          </p:cNvPr>
          <p:cNvSpPr txBox="1"/>
          <p:nvPr/>
        </p:nvSpPr>
        <p:spPr>
          <a:xfrm>
            <a:off x="6841067" y="65244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public</a:t>
            </a:r>
            <a:r>
              <a:rPr lang="en-US" sz="2400" dirty="0">
                <a:solidFill>
                  <a:srgbClr val="7030A0"/>
                </a:solidFill>
              </a:rPr>
              <a:t> @interface </a:t>
            </a:r>
            <a:r>
              <a:rPr lang="en-US" sz="2400" dirty="0"/>
              <a:t>Example {</a:t>
            </a:r>
          </a:p>
          <a:p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String value() </a:t>
            </a:r>
          </a:p>
          <a:p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}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4446BE-3AFA-2D69-6366-6DBB1A992AD7}"/>
              </a:ext>
            </a:extLst>
          </p:cNvPr>
          <p:cNvSpPr txBox="1"/>
          <p:nvPr/>
        </p:nvSpPr>
        <p:spPr>
          <a:xfrm>
            <a:off x="710310" y="4220401"/>
            <a:ext cx="670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@ Example</a:t>
            </a:r>
            <a:r>
              <a:rPr lang="en-US" sz="2400" dirty="0">
                <a:highlight>
                  <a:srgbClr val="FFFF00"/>
                </a:highlight>
              </a:rPr>
              <a:t>(“TS”)</a:t>
            </a:r>
          </a:p>
          <a:p>
            <a:r>
              <a:rPr lang="en-US" sz="2400" dirty="0"/>
              <a:t>public class HelloWorld {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1E72B-7329-5184-3CD5-968D15EF6D0D}"/>
              </a:ext>
            </a:extLst>
          </p:cNvPr>
          <p:cNvSpPr txBox="1"/>
          <p:nvPr/>
        </p:nvSpPr>
        <p:spPr>
          <a:xfrm>
            <a:off x="6705600" y="4220401"/>
            <a:ext cx="670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@ Example</a:t>
            </a:r>
            <a:r>
              <a:rPr lang="en-US" sz="2400" dirty="0">
                <a:highlight>
                  <a:srgbClr val="FFFF00"/>
                </a:highlight>
              </a:rPr>
              <a:t>(value = “TS”)</a:t>
            </a:r>
          </a:p>
          <a:p>
            <a:r>
              <a:rPr lang="en-US" sz="2400" dirty="0"/>
              <a:t>public class HelloWorld {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6ECE66AA-EA83-D8B5-A42F-50D54FF9DBD0}"/>
              </a:ext>
            </a:extLst>
          </p:cNvPr>
          <p:cNvSpPr/>
          <p:nvPr/>
        </p:nvSpPr>
        <p:spPr>
          <a:xfrm rot="1833298" flipH="1">
            <a:off x="2363727" y="3155270"/>
            <a:ext cx="363054" cy="1085526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1E49A0A0-4904-6C81-383B-FC93962176F7}"/>
              </a:ext>
            </a:extLst>
          </p:cNvPr>
          <p:cNvSpPr/>
          <p:nvPr/>
        </p:nvSpPr>
        <p:spPr>
          <a:xfrm rot="18962797">
            <a:off x="7458146" y="3180686"/>
            <a:ext cx="305535" cy="928617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0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43E04-48A1-EEA8-435A-86E27A88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C0D80-9E69-0A43-17CF-02BBF876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Annotations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1088B8-9E63-644B-971B-6F08640EE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944" r="27507" b="27842"/>
          <a:stretch>
            <a:fillRect/>
          </a:stretch>
        </p:blipFill>
        <p:spPr>
          <a:xfrm>
            <a:off x="333599" y="314078"/>
            <a:ext cx="11498132" cy="6236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E7346-930D-8A9A-D856-D27874E51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426" y="1177798"/>
            <a:ext cx="8332826" cy="111998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Meta-</a:t>
            </a:r>
            <a:r>
              <a:rPr lang="en-US" sz="2000" dirty="0" err="1"/>
              <a:t>Annotationen</a:t>
            </a:r>
            <a:r>
              <a:rPr lang="en-US" sz="2000" dirty="0"/>
              <a:t> </a:t>
            </a:r>
            <a:r>
              <a:rPr lang="en-US" sz="2000" dirty="0" err="1"/>
              <a:t>spezifizieren</a:t>
            </a:r>
            <a:r>
              <a:rPr lang="en-US" sz="2000" dirty="0"/>
              <a:t> das </a:t>
            </a:r>
            <a:r>
              <a:rPr lang="en-US" sz="2000" dirty="0" err="1"/>
              <a:t>Verhalten</a:t>
            </a:r>
            <a:r>
              <a:rPr lang="en-US" sz="2000" dirty="0"/>
              <a:t> der Annotation </a:t>
            </a:r>
            <a:r>
              <a:rPr lang="en-US" sz="2000" dirty="0" err="1"/>
              <a:t>selbst</a:t>
            </a:r>
            <a:r>
              <a:rPr lang="en-US" sz="2000" dirty="0"/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  <a:ea typeface="-webkit-standard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3789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5E6D8-CA76-54B6-7FF4-897B7A0B7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@Target 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worauf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darf</a:t>
            </a:r>
            <a:r>
              <a:rPr lang="en-US" sz="4000" dirty="0">
                <a:solidFill>
                  <a:srgbClr val="FFFFFF"/>
                </a:solidFill>
              </a:rPr>
              <a:t> Annotation </a:t>
            </a:r>
            <a:r>
              <a:rPr lang="en-US" sz="4000" dirty="0" err="1">
                <a:solidFill>
                  <a:srgbClr val="FFFFFF"/>
                </a:solidFill>
              </a:rPr>
              <a:t>angewendet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werden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A5D6-E1E6-3743-A6BC-C937DA52E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 b="1"/>
              <a:t>ANNOTATION_TYPE</a:t>
            </a:r>
            <a:r>
              <a:rPr lang="en-US" sz="1700"/>
              <a:t>: Andere Annotationen</a:t>
            </a:r>
          </a:p>
          <a:p>
            <a:r>
              <a:rPr lang="en-US" sz="1700" b="1"/>
              <a:t>CONSTRUCTOR</a:t>
            </a:r>
            <a:r>
              <a:rPr lang="en-US" sz="1700"/>
              <a:t>: Konstruktor-Deklarationen</a:t>
            </a:r>
          </a:p>
          <a:p>
            <a:r>
              <a:rPr lang="en-US" sz="1700" b="1"/>
              <a:t>FIELD</a:t>
            </a:r>
            <a:r>
              <a:rPr lang="en-US" sz="1700"/>
              <a:t>: Variablendeklarationen innerhalb einer Klasse oder eines Objekts</a:t>
            </a:r>
          </a:p>
          <a:p>
            <a:r>
              <a:rPr lang="en-US" sz="1700" b="1"/>
              <a:t>LOCAL_VARIABLE</a:t>
            </a:r>
            <a:r>
              <a:rPr lang="en-US" sz="1700"/>
              <a:t>: Lokale Variablendeklarationen innerhalb einer Methode oder Funktion</a:t>
            </a:r>
          </a:p>
          <a:p>
            <a:r>
              <a:rPr lang="en-US" sz="1700" b="1"/>
              <a:t>METHOD</a:t>
            </a:r>
            <a:r>
              <a:rPr lang="en-US" sz="1700"/>
              <a:t>: Methodendeklarationen</a:t>
            </a:r>
          </a:p>
          <a:p>
            <a:r>
              <a:rPr lang="en-US" sz="1700" b="1"/>
              <a:t>PACKAGE</a:t>
            </a:r>
            <a:r>
              <a:rPr lang="en-US" sz="1700"/>
              <a:t>: Paketdeklarationen</a:t>
            </a:r>
          </a:p>
          <a:p>
            <a:r>
              <a:rPr lang="en-US" sz="1700" b="1"/>
              <a:t>PARAMETER</a:t>
            </a:r>
            <a:r>
              <a:rPr lang="en-US" sz="1700"/>
              <a:t>: Parameter von Methoden oder Konstruktoren</a:t>
            </a:r>
          </a:p>
          <a:p>
            <a:r>
              <a:rPr lang="en-US" sz="1700" b="1"/>
              <a:t>TYPE</a:t>
            </a:r>
            <a:r>
              <a:rPr lang="en-US" sz="1700"/>
              <a:t>: Typdeklarationen (Klasse, Interface, Enum oder Annotation)</a:t>
            </a:r>
          </a:p>
          <a:p>
            <a:r>
              <a:rPr lang="en-US" sz="1700" b="1"/>
              <a:t>TYPE_PARAMETER</a:t>
            </a:r>
            <a:r>
              <a:rPr lang="en-US" sz="1700"/>
              <a:t>: Typ-Parameter-Deklarationen bei Generics (in generischen Klassen, Interfaces, Methoden oder Konstruktoren)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151506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AC1F2-A441-175D-F642-74AA8564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7A8AC2-96A7-6C7F-1B51-88112907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@Target -&gt; wo </a:t>
            </a:r>
            <a:r>
              <a:rPr lang="en-US" sz="4000" dirty="0" err="1">
                <a:solidFill>
                  <a:srgbClr val="FFFFFF"/>
                </a:solidFill>
              </a:rPr>
              <a:t>darf</a:t>
            </a:r>
            <a:r>
              <a:rPr lang="en-US" sz="4000" dirty="0">
                <a:solidFill>
                  <a:srgbClr val="FFFFFF"/>
                </a:solidFill>
              </a:rPr>
              <a:t> man die Annotation </a:t>
            </a:r>
            <a:r>
              <a:rPr lang="en-US" sz="4000" dirty="0" err="1">
                <a:solidFill>
                  <a:srgbClr val="FFFFFF"/>
                </a:solidFill>
              </a:rPr>
              <a:t>benutzen</a:t>
            </a:r>
            <a:r>
              <a:rPr lang="en-US" sz="4000" dirty="0">
                <a:solidFill>
                  <a:srgbClr val="FFFFFF"/>
                </a:solidFill>
              </a:rPr>
              <a:t>?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5D5C519-B680-D75A-B03F-5B094D874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539324"/>
              </p:ext>
            </p:extLst>
          </p:nvPr>
        </p:nvGraphicFramePr>
        <p:xfrm>
          <a:off x="644056" y="2374361"/>
          <a:ext cx="10927830" cy="3669246"/>
        </p:xfrm>
        <a:graphic>
          <a:graphicData uri="http://schemas.openxmlformats.org/drawingml/2006/table">
            <a:tbl>
              <a:tblPr/>
              <a:tblGrid>
                <a:gridCol w="4656221">
                  <a:extLst>
                    <a:ext uri="{9D8B030D-6E8A-4147-A177-3AD203B41FA5}">
                      <a16:colId xmlns:a16="http://schemas.microsoft.com/office/drawing/2014/main" val="1934244510"/>
                    </a:ext>
                  </a:extLst>
                </a:gridCol>
                <a:gridCol w="6271609">
                  <a:extLst>
                    <a:ext uri="{9D8B030D-6E8A-4147-A177-3AD203B41FA5}">
                      <a16:colId xmlns:a16="http://schemas.microsoft.com/office/drawing/2014/main" val="453027216"/>
                    </a:ext>
                  </a:extLst>
                </a:gridCol>
              </a:tblGrid>
              <a:tr h="52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rgbClr val="7030A0"/>
                          </a:solidFill>
                        </a:rPr>
                        <a:t>Typ</a:t>
                      </a:r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 err="1">
                          <a:solidFill>
                            <a:srgbClr val="7030A0"/>
                          </a:solidFill>
                        </a:rPr>
                        <a:t>Bedeutung</a:t>
                      </a:r>
                      <a:endParaRPr lang="en-US" sz="2300" dirty="0">
                        <a:solidFill>
                          <a:srgbClr val="7030A0"/>
                        </a:solidFill>
                      </a:endParaRPr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465224"/>
                  </a:ext>
                </a:extLst>
              </a:tr>
              <a:tr h="52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ourier New" panose="02070309020205020404" pitchFamily="49" charset="0"/>
                        </a:rPr>
                        <a:t>TYPE</a:t>
                      </a:r>
                      <a:endParaRPr lang="en-US" sz="2300"/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Klassen, Interfaces, Enums</a:t>
                      </a:r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564119"/>
                  </a:ext>
                </a:extLst>
              </a:tr>
              <a:tr h="52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ourier New" panose="02070309020205020404" pitchFamily="49" charset="0"/>
                        </a:rPr>
                        <a:t>METHOD</a:t>
                      </a:r>
                      <a:endParaRPr lang="en-US" sz="2300"/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Methoden</a:t>
                      </a:r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392058"/>
                  </a:ext>
                </a:extLst>
              </a:tr>
              <a:tr h="52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ourier New" panose="02070309020205020404" pitchFamily="49" charset="0"/>
                        </a:rPr>
                        <a:t>FIELD</a:t>
                      </a:r>
                      <a:endParaRPr lang="en-US" sz="2300"/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Variablen</a:t>
                      </a:r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64228"/>
                  </a:ext>
                </a:extLst>
              </a:tr>
              <a:tr h="52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ourier New" panose="02070309020205020404" pitchFamily="49" charset="0"/>
                        </a:rPr>
                        <a:t>CONSTRUCTOR</a:t>
                      </a:r>
                      <a:endParaRPr lang="en-US" sz="2300"/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Konstruktoren</a:t>
                      </a:r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221758"/>
                  </a:ext>
                </a:extLst>
              </a:tr>
              <a:tr h="52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ourier New" panose="02070309020205020404" pitchFamily="49" charset="0"/>
                        </a:rPr>
                        <a:t>PARAMETER</a:t>
                      </a:r>
                      <a:endParaRPr lang="en-US" sz="2300"/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Parameter</a:t>
                      </a:r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199334"/>
                  </a:ext>
                </a:extLst>
              </a:tr>
              <a:tr h="52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ourier New" panose="02070309020205020404" pitchFamily="49" charset="0"/>
                        </a:rPr>
                        <a:t>LOCAL_VARIABLE</a:t>
                      </a:r>
                      <a:endParaRPr lang="en-US" sz="2300"/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 err="1"/>
                        <a:t>lokale</a:t>
                      </a:r>
                      <a:r>
                        <a:rPr lang="en-US" sz="2300" dirty="0"/>
                        <a:t> </a:t>
                      </a:r>
                      <a:r>
                        <a:rPr lang="en-US" sz="2300" dirty="0" err="1"/>
                        <a:t>Variablen</a:t>
                      </a:r>
                      <a:endParaRPr lang="en-US" sz="2300" dirty="0"/>
                    </a:p>
                  </a:txBody>
                  <a:tcPr marL="119131" marR="119131" marT="59566" marB="595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305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491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D98D05-B582-6319-1F4A-006EEB247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9" y="294538"/>
            <a:ext cx="9895951" cy="10336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SFMono-Regular"/>
              </a:rPr>
              <a:t>@Retention</a:t>
            </a:r>
            <a:endParaRPr kumimoji="0" lang="en-US" altLang="en-US" sz="3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-webkit-standard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-webkit-standard"/>
              </a:rPr>
              <a:t>Bestimmt, wie lange die Annotation verfügbar ist:</a:t>
            </a:r>
            <a:endParaRPr kumimoji="0" lang="en-US" altLang="en-US" sz="3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EB084-F168-BA1B-4147-D60A70ED8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SOURCE: Nur im Quellcode gespeichert.</a:t>
            </a:r>
          </a:p>
          <a:p>
            <a:r>
              <a:rPr lang="en-US" sz="2000"/>
              <a:t>CLASS: Bis zur Kompilierung.</a:t>
            </a:r>
          </a:p>
          <a:p>
            <a:r>
              <a:rPr lang="en-US" sz="2000"/>
              <a:t>RUNTIME: Auch zur Laufzeit per Reflection abrufbar.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16600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F255A-0F24-C63E-F9C3-869A4FD7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@Retention -&gt; </a:t>
            </a:r>
            <a:r>
              <a:rPr lang="en-US" dirty="0">
                <a:solidFill>
                  <a:schemeClr val="bg1"/>
                </a:solidFill>
              </a:rPr>
              <a:t>Wie </a:t>
            </a:r>
            <a:r>
              <a:rPr lang="en-US" dirty="0" err="1">
                <a:solidFill>
                  <a:schemeClr val="bg1"/>
                </a:solidFill>
              </a:rPr>
              <a:t>lange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existiert</a:t>
            </a:r>
            <a:r>
              <a:rPr lang="en-US" dirty="0">
                <a:solidFill>
                  <a:schemeClr val="bg1"/>
                </a:solidFill>
              </a:rPr>
              <a:t> die Annotation?</a:t>
            </a:r>
            <a:endParaRPr lang="en-US" sz="4000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2B73A9-4309-75A8-ADBA-50AABFEC9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569446"/>
              </p:ext>
            </p:extLst>
          </p:nvPr>
        </p:nvGraphicFramePr>
        <p:xfrm>
          <a:off x="1430989" y="2112579"/>
          <a:ext cx="9353964" cy="4192806"/>
        </p:xfrm>
        <a:graphic>
          <a:graphicData uri="http://schemas.openxmlformats.org/drawingml/2006/table">
            <a:tbl>
              <a:tblPr/>
              <a:tblGrid>
                <a:gridCol w="1787194">
                  <a:extLst>
                    <a:ext uri="{9D8B030D-6E8A-4147-A177-3AD203B41FA5}">
                      <a16:colId xmlns:a16="http://schemas.microsoft.com/office/drawing/2014/main" val="270852376"/>
                    </a:ext>
                  </a:extLst>
                </a:gridCol>
                <a:gridCol w="3819111">
                  <a:extLst>
                    <a:ext uri="{9D8B030D-6E8A-4147-A177-3AD203B41FA5}">
                      <a16:colId xmlns:a16="http://schemas.microsoft.com/office/drawing/2014/main" val="350115678"/>
                    </a:ext>
                  </a:extLst>
                </a:gridCol>
                <a:gridCol w="3747659">
                  <a:extLst>
                    <a:ext uri="{9D8B030D-6E8A-4147-A177-3AD203B41FA5}">
                      <a16:colId xmlns:a16="http://schemas.microsoft.com/office/drawing/2014/main" val="483082102"/>
                    </a:ext>
                  </a:extLst>
                </a:gridCol>
              </a:tblGrid>
              <a:tr h="565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solidFill>
                            <a:srgbClr val="7030A0"/>
                          </a:solidFill>
                        </a:rPr>
                        <a:t>Typ</a:t>
                      </a:r>
                      <a:endParaRPr lang="en-US" sz="2500" dirty="0">
                        <a:solidFill>
                          <a:srgbClr val="7030A0"/>
                        </a:solidFill>
                      </a:endParaRP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solidFill>
                            <a:srgbClr val="7030A0"/>
                          </a:solidFill>
                        </a:rPr>
                        <a:t>Bedeutung</a:t>
                      </a: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solidFill>
                            <a:srgbClr val="7030A0"/>
                          </a:solidFill>
                        </a:rPr>
                        <a:t>Beispiel</a:t>
                      </a:r>
                      <a:endParaRPr lang="en-US" sz="2500" dirty="0">
                        <a:solidFill>
                          <a:srgbClr val="7030A0"/>
                        </a:solidFill>
                      </a:endParaRP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649670"/>
                  </a:ext>
                </a:extLst>
              </a:tr>
              <a:tr h="1337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SOURCE</a:t>
                      </a:r>
                      <a:endParaRPr lang="en-US" sz="2500"/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Nur im Code (verschwindet nach Compile)</a:t>
                      </a: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wie Kommentare</a:t>
                      </a: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320626"/>
                  </a:ext>
                </a:extLst>
              </a:tr>
              <a:tr h="95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Courier New" panose="02070309020205020404" pitchFamily="49" charset="0"/>
                        </a:rPr>
                        <a:t>CLASS</a:t>
                      </a:r>
                      <a:endParaRPr lang="en-US" sz="2500" dirty="0"/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Im Bytecode, aber nicht zur Laufzeit</a:t>
                      </a: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Standard</a:t>
                      </a: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276527"/>
                  </a:ext>
                </a:extLst>
              </a:tr>
              <a:tr h="1337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Courier New" panose="02070309020205020404" pitchFamily="49" charset="0"/>
                        </a:rPr>
                        <a:t>RUNTIME</a:t>
                      </a:r>
                      <a:endParaRPr lang="en-US" sz="2500" dirty="0"/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Auch </a:t>
                      </a:r>
                      <a:r>
                        <a:rPr lang="en-US" sz="2500" dirty="0" err="1"/>
                        <a:t>zur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Laufzeit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verfügbar</a:t>
                      </a:r>
                      <a:r>
                        <a:rPr lang="en-US" sz="2500" dirty="0"/>
                        <a:t> (Reflection </a:t>
                      </a:r>
                      <a:r>
                        <a:rPr lang="en-US" sz="2500" dirty="0" err="1"/>
                        <a:t>möglich</a:t>
                      </a:r>
                      <a:r>
                        <a:rPr lang="en-US" sz="2500" dirty="0"/>
                        <a:t>)</a:t>
                      </a: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/>
                        <a:t>wichtig</a:t>
                      </a:r>
                      <a:r>
                        <a:rPr lang="en-US" sz="2500" dirty="0"/>
                        <a:t> für Frameworks</a:t>
                      </a:r>
                    </a:p>
                  </a:txBody>
                  <a:tcPr marL="128614" marR="128614" marT="64307" marB="64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19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797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57043-AEF0-ACA0-593B-AF077076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Beispiel: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A37CF-329B-7BB5-4E69-08EB623B7EF2}"/>
              </a:ext>
            </a:extLst>
          </p:cNvPr>
          <p:cNvSpPr txBox="1"/>
          <p:nvPr/>
        </p:nvSpPr>
        <p:spPr>
          <a:xfrm>
            <a:off x="5793823" y="2899824"/>
            <a:ext cx="5457273" cy="1739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6FA4F-D3D7-4846-3637-9A31271D6109}"/>
              </a:ext>
            </a:extLst>
          </p:cNvPr>
          <p:cNvSpPr txBox="1"/>
          <p:nvPr/>
        </p:nvSpPr>
        <p:spPr>
          <a:xfrm>
            <a:off x="838200" y="5282038"/>
            <a:ext cx="10876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7030A0"/>
                </a:solidFill>
              </a:rPr>
              <a:t>-&gt; Du </a:t>
            </a:r>
            <a:r>
              <a:rPr lang="en-US" sz="2400" dirty="0" err="1">
                <a:solidFill>
                  <a:srgbClr val="7030A0"/>
                </a:solidFill>
              </a:rPr>
              <a:t>siehst</a:t>
            </a:r>
            <a:r>
              <a:rPr lang="en-US" sz="2400" dirty="0">
                <a:solidFill>
                  <a:srgbClr val="7030A0"/>
                </a:solidFill>
              </a:rPr>
              <a:t> Annotation </a:t>
            </a:r>
            <a:r>
              <a:rPr lang="en-US" sz="2400" dirty="0" err="1">
                <a:solidFill>
                  <a:srgbClr val="7030A0"/>
                </a:solidFill>
              </a:rPr>
              <a:t>im</a:t>
            </a:r>
            <a:r>
              <a:rPr lang="en-US" sz="2400" dirty="0">
                <a:solidFill>
                  <a:srgbClr val="7030A0"/>
                </a:solidFill>
              </a:rPr>
              <a:t> Code, Complier </a:t>
            </a:r>
            <a:r>
              <a:rPr lang="en-US" sz="2400" dirty="0" err="1">
                <a:solidFill>
                  <a:srgbClr val="7030A0"/>
                </a:solidFill>
              </a:rPr>
              <a:t>kann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sie</a:t>
            </a:r>
            <a:r>
              <a:rPr lang="en-US" sz="2400" dirty="0">
                <a:solidFill>
                  <a:srgbClr val="7030A0"/>
                </a:solidFill>
              </a:rPr>
              <a:t> für </a:t>
            </a:r>
            <a:r>
              <a:rPr lang="en-US" sz="2400" dirty="0" err="1">
                <a:solidFill>
                  <a:srgbClr val="7030A0"/>
                </a:solidFill>
              </a:rPr>
              <a:t>Warnungen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nutzen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endParaRPr lang="en-US" sz="240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A44E98-09FD-8E91-36C4-575C4ED63F56}"/>
              </a:ext>
            </a:extLst>
          </p:cNvPr>
          <p:cNvSpPr txBox="1"/>
          <p:nvPr/>
        </p:nvSpPr>
        <p:spPr>
          <a:xfrm>
            <a:off x="838200" y="1690688"/>
            <a:ext cx="610001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highlight>
                  <a:srgbClr val="FFFF00"/>
                </a:highlight>
              </a:rPr>
              <a:t>@Retention(</a:t>
            </a:r>
            <a:r>
              <a:rPr lang="en-US" sz="2400" dirty="0" err="1">
                <a:highlight>
                  <a:srgbClr val="FFFF00"/>
                </a:highlight>
              </a:rPr>
              <a:t>RetentionPolicy.SOURCE</a:t>
            </a:r>
            <a:r>
              <a:rPr lang="en-US" sz="2400" dirty="0">
                <a:highlight>
                  <a:srgbClr val="FFFF00"/>
                </a:highlight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public @interface </a:t>
            </a:r>
            <a:r>
              <a:rPr lang="en-US" sz="2400" dirty="0">
                <a:solidFill>
                  <a:schemeClr val="accent2"/>
                </a:solidFill>
              </a:rPr>
              <a:t>Todo </a:t>
            </a:r>
            <a:r>
              <a:rPr lang="en-US" sz="2400" dirty="0"/>
              <a:t>{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    String value();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A8DBF5-611A-B7DB-A12E-5D252E4ECE81}"/>
              </a:ext>
            </a:extLst>
          </p:cNvPr>
          <p:cNvSpPr txBox="1"/>
          <p:nvPr/>
        </p:nvSpPr>
        <p:spPr>
          <a:xfrm>
            <a:off x="5272362" y="3366600"/>
            <a:ext cx="6628089" cy="88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accent2"/>
                </a:solidFill>
              </a:rPr>
              <a:t>@Todo</a:t>
            </a:r>
            <a:r>
              <a:rPr lang="en-US" sz="2400" dirty="0"/>
              <a:t>("Methode </a:t>
            </a:r>
            <a:r>
              <a:rPr lang="en-US" sz="2400" dirty="0" err="1"/>
              <a:t>noch</a:t>
            </a:r>
            <a:r>
              <a:rPr lang="en-US" sz="2400" dirty="0"/>
              <a:t> </a:t>
            </a:r>
            <a:r>
              <a:rPr lang="en-US" sz="2400" dirty="0" err="1"/>
              <a:t>fertig</a:t>
            </a:r>
            <a:r>
              <a:rPr lang="en-US" sz="2400" dirty="0"/>
              <a:t> </a:t>
            </a:r>
            <a:r>
              <a:rPr lang="en-US" sz="2400" dirty="0" err="1"/>
              <a:t>implementieren</a:t>
            </a:r>
            <a:r>
              <a:rPr lang="en-US" sz="2400" dirty="0"/>
              <a:t>")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public void calculate(){</a:t>
            </a:r>
          </a:p>
        </p:txBody>
      </p:sp>
    </p:spTree>
    <p:extLst>
      <p:ext uri="{BB962C8B-B14F-4D97-AF65-F5344CB8AC3E}">
        <p14:creationId xmlns:p14="http://schemas.microsoft.com/office/powerpoint/2010/main" val="511839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D1CEE-1AB7-644A-63F2-C80DCD164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@Repeatable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56C44-403C-95E7-5DF8-5C7F0B534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18197"/>
            <a:ext cx="5411166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@Repeatable(</a:t>
            </a:r>
            <a:r>
              <a:rPr lang="en-US" sz="2400" dirty="0" err="1">
                <a:solidFill>
                  <a:schemeClr val="accent2"/>
                </a:solidFill>
              </a:rPr>
              <a:t>B.class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/>
              <a:t>public @interface A{</a:t>
            </a:r>
          </a:p>
          <a:p>
            <a:pPr marL="0" indent="0">
              <a:buNone/>
            </a:pPr>
            <a:r>
              <a:rPr lang="en-US" sz="2400" dirty="0"/>
              <a:t>String value();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public @interface B{</a:t>
            </a:r>
          </a:p>
          <a:p>
            <a:pPr marL="0" indent="0">
              <a:buNone/>
            </a:pPr>
            <a:r>
              <a:rPr lang="en-US" sz="2400" dirty="0"/>
              <a:t>A[] value();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55251-5144-CA72-E0E0-A8C738B6388B}"/>
              </a:ext>
            </a:extLst>
          </p:cNvPr>
          <p:cNvSpPr txBox="1"/>
          <p:nvPr/>
        </p:nvSpPr>
        <p:spPr>
          <a:xfrm>
            <a:off x="6437454" y="2577482"/>
            <a:ext cx="44658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B3AE60"/>
                </a:solidFill>
                <a:effectLst/>
                <a:latin typeface="JetBrains Mono"/>
              </a:rPr>
              <a:t>@A 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AAB73"/>
                </a:solidFill>
                <a:effectLst/>
                <a:latin typeface="JetBrains Mono"/>
              </a:rPr>
              <a:t>"OWNER"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3AE60"/>
                </a:solidFill>
                <a:effectLst/>
                <a:latin typeface="JetBrains Mono"/>
              </a:rPr>
              <a:t>@A 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AAB73"/>
                </a:solidFill>
                <a:effectLst/>
                <a:latin typeface="JetBrains Mono"/>
              </a:rPr>
              <a:t>"ADMIN"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3AE60"/>
                </a:solidFill>
                <a:effectLst/>
                <a:latin typeface="JetBrains Mono"/>
              </a:rPr>
              <a:t>@A 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AAB73"/>
                </a:solidFill>
                <a:effectLst/>
                <a:latin typeface="JetBrains Mono"/>
              </a:rPr>
              <a:t>"USER"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3AE60"/>
                </a:solidFill>
                <a:effectLst/>
                <a:latin typeface="JetBrains Mono"/>
              </a:rPr>
              <a:t>@A 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AAB73"/>
                </a:solidFill>
                <a:effectLst/>
                <a:latin typeface="JetBrains Mono"/>
              </a:rPr>
              <a:t>"GUEST"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400" dirty="0">
                <a:solidFill>
                  <a:schemeClr val="accent3"/>
                </a:solidFill>
                <a:effectLst/>
                <a:latin typeface="JetBrains Mono"/>
              </a:rPr>
              <a:t>String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400" dirty="0">
                <a:solidFill>
                  <a:srgbClr val="C77DBB"/>
                </a:solidFill>
                <a:effectLst/>
                <a:latin typeface="JetBrains Mono"/>
              </a:rPr>
              <a:t>role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28500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A280-AA97-4D0F-2985-5723412F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Zusammenfassung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838804-D953-76FE-AC51-F9E3FB734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038"/>
          <a:stretch>
            <a:fillRect/>
          </a:stretch>
        </p:blipFill>
        <p:spPr>
          <a:xfrm>
            <a:off x="976873" y="1539431"/>
            <a:ext cx="10376927" cy="476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1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07920-ECF0-96A2-3CA0-B9709165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Beispiel</a:t>
            </a:r>
            <a:r>
              <a:rPr lang="en-US" sz="4000" dirty="0">
                <a:solidFill>
                  <a:srgbClr val="FFFFFF"/>
                </a:solidFill>
              </a:rPr>
              <a:t>: Lombok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B71E6-64EA-2D71-C9EE-7E299324B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89197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Wollen Standard-Code </a:t>
            </a:r>
            <a:r>
              <a:rPr lang="en-US" sz="2400" dirty="0" err="1">
                <a:solidFill>
                  <a:srgbClr val="002060"/>
                </a:solidFill>
              </a:rPr>
              <a:t>reduzieren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</a:p>
          <a:p>
            <a:r>
              <a:rPr lang="en-US" sz="2400" dirty="0"/>
              <a:t>@</a:t>
            </a:r>
            <a:r>
              <a:rPr lang="en-US" sz="2400" dirty="0" err="1"/>
              <a:t>toString</a:t>
            </a:r>
            <a:endParaRPr lang="en-US" sz="2400" dirty="0"/>
          </a:p>
          <a:p>
            <a:r>
              <a:rPr lang="en-US" sz="2400" dirty="0"/>
              <a:t>@Getter</a:t>
            </a:r>
          </a:p>
          <a:p>
            <a:r>
              <a:rPr lang="en-US" sz="2400" dirty="0"/>
              <a:t>@Setter</a:t>
            </a:r>
          </a:p>
          <a:p>
            <a:r>
              <a:rPr lang="en-US" sz="2400" dirty="0"/>
              <a:t>@Log 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75D58-8657-442A-349F-625F1F197B5E}"/>
              </a:ext>
            </a:extLst>
          </p:cNvPr>
          <p:cNvSpPr txBox="1"/>
          <p:nvPr/>
        </p:nvSpPr>
        <p:spPr>
          <a:xfrm>
            <a:off x="5695739" y="390834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@</a:t>
            </a:r>
            <a:r>
              <a:rPr lang="en-US" sz="2400" b="0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ToString</a:t>
            </a:r>
            <a:r>
              <a:rPr lang="en-US" sz="2400" b="0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</a:p>
          <a:p>
            <a:r>
              <a:rPr lang="en-US" sz="2400" b="0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@</a:t>
            </a:r>
            <a:r>
              <a:rPr lang="en-US" sz="2400" b="0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AllArgsConstructor</a:t>
            </a:r>
            <a:endParaRPr lang="en-US" sz="2400" b="0" i="0" u="none" strike="noStrike" dirty="0">
              <a:solidFill>
                <a:schemeClr val="accent2"/>
              </a:solidFill>
              <a:effectLst/>
              <a:latin typeface="-webkit-standard"/>
            </a:endParaRPr>
          </a:p>
          <a:p>
            <a:r>
              <a:rPr lang="en-US" sz="2400" b="0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@Log </a:t>
            </a:r>
          </a:p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public class </a:t>
            </a:r>
            <a:r>
              <a:rPr lang="en-US" sz="2400" b="0" i="0" u="none" strike="noStrike" dirty="0">
                <a:solidFill>
                  <a:schemeClr val="accent5"/>
                </a:solidFill>
                <a:effectLst/>
                <a:latin typeface="-webkit-standard"/>
              </a:rPr>
              <a:t>User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{ </a:t>
            </a:r>
          </a:p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private </a:t>
            </a:r>
            <a:r>
              <a:rPr lang="en-US" sz="2400" b="0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@Getter @Setter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String name; </a:t>
            </a:r>
          </a:p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8481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7A746-8784-F5D0-1B82-D8477BDF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@Log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572F09-103F-D77E-E0D1-ED86252A17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959" y="1587321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 Logger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fügt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automatisch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wichtige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Metadaten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hinzu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die du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println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manuell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tippen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müsstest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Zeitstempel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(Wann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der Fehler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passiert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Klassenname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welcher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Datei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trat das Problem auf?)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F9BF1-4C05-9CF5-4624-5E4D460E5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487" y="4175862"/>
            <a:ext cx="6311900" cy="238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74EA88-3588-8D1D-774D-3AE9F19A30AF}"/>
              </a:ext>
            </a:extLst>
          </p:cNvPr>
          <p:cNvSpPr txBox="1"/>
          <p:nvPr/>
        </p:nvSpPr>
        <p:spPr>
          <a:xfrm>
            <a:off x="459350" y="4544908"/>
            <a:ext cx="45293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Log.severe</a:t>
            </a:r>
            <a:r>
              <a:rPr lang="en-US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(“…”)</a:t>
            </a:r>
          </a:p>
          <a:p>
            <a:r>
              <a:rPr lang="en-US" sz="2000" dirty="0" err="1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Log.info</a:t>
            </a:r>
            <a:r>
              <a:rPr lang="en-US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chemeClr val="accent3"/>
                </a:solidFill>
              </a:rPr>
              <a:t>"Die Methode </a:t>
            </a:r>
            <a:r>
              <a:rPr lang="en-US" dirty="0" err="1">
                <a:solidFill>
                  <a:schemeClr val="accent3"/>
                </a:solidFill>
              </a:rPr>
              <a:t>wurde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mit</a:t>
            </a:r>
            <a:r>
              <a:rPr lang="en-US" dirty="0">
                <a:solidFill>
                  <a:schemeClr val="accent3"/>
                </a:solidFill>
              </a:rPr>
              <a:t> dem Namen " </a:t>
            </a:r>
            <a:r>
              <a:rPr lang="en-US" dirty="0"/>
              <a:t>+ name + </a:t>
            </a:r>
            <a:r>
              <a:rPr lang="en-US" dirty="0">
                <a:solidFill>
                  <a:schemeClr val="accent3"/>
                </a:solidFill>
              </a:rPr>
              <a:t>" </a:t>
            </a:r>
            <a:r>
              <a:rPr lang="en-US" dirty="0" err="1">
                <a:solidFill>
                  <a:schemeClr val="accent3"/>
                </a:solidFill>
              </a:rPr>
              <a:t>aufgerufen</a:t>
            </a:r>
            <a:r>
              <a:rPr lang="en-US" dirty="0">
                <a:solidFill>
                  <a:schemeClr val="accent3"/>
                </a:solidFill>
              </a:rPr>
              <a:t>")</a:t>
            </a:r>
          </a:p>
          <a:p>
            <a:r>
              <a:rPr lang="en-US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352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32433-6E99-0CB7-6D5C-D8070F36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Aufgabe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43CB8B-292B-33D4-89C0-FE1D9884F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4756"/>
            <a:ext cx="10515600" cy="299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42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E6FAC-C717-29F9-8CE9-C349EB92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1A5AA9-6D0D-869F-712B-ACDEE9574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256" y="649200"/>
            <a:ext cx="8311487" cy="27220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60F4EF-6658-4EC5-8D96-C6676C05A602}"/>
              </a:ext>
            </a:extLst>
          </p:cNvPr>
          <p:cNvSpPr txBox="1"/>
          <p:nvPr/>
        </p:nvSpPr>
        <p:spPr>
          <a:xfrm>
            <a:off x="1926251" y="3404934"/>
            <a:ext cx="8332826" cy="1792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 err="1">
                <a:effectLst/>
              </a:rPr>
              <a:t>ermöglichen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Programmen</a:t>
            </a:r>
            <a:r>
              <a:rPr lang="en-US" sz="1900" b="0" i="0" u="none" strike="noStrike" dirty="0">
                <a:effectLst/>
              </a:rPr>
              <a:t>, </a:t>
            </a:r>
            <a:r>
              <a:rPr lang="en-US" sz="1900" b="0" i="0" u="none" strike="noStrike" dirty="0" err="1">
                <a:effectLst/>
              </a:rPr>
              <a:t>Informationen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über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sich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selbst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zur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Laufzeit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zu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erhalten</a:t>
            </a:r>
            <a:r>
              <a:rPr lang="en-US" sz="1900" b="0" i="0" u="none" strike="noStrike" dirty="0">
                <a:effectLst/>
              </a:rPr>
              <a:t>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 err="1">
                <a:effectLst/>
              </a:rPr>
              <a:t>gegebenenfalls</a:t>
            </a:r>
            <a:r>
              <a:rPr lang="en-US" sz="1900" b="0" i="0" u="none" strike="noStrike" dirty="0">
                <a:effectLst/>
              </a:rPr>
              <a:t> das </a:t>
            </a:r>
            <a:r>
              <a:rPr lang="en-US" sz="1900" b="0" i="0" u="none" strike="noStrike" dirty="0" err="1">
                <a:effectLst/>
              </a:rPr>
              <a:t>Verhalten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zu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ändern</a:t>
            </a:r>
            <a:endParaRPr lang="en-US" sz="19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effectLst/>
              </a:rPr>
              <a:t>Dies </a:t>
            </a:r>
            <a:r>
              <a:rPr lang="en-US" sz="1900" b="0" i="0" u="none" strike="noStrike" dirty="0" err="1">
                <a:effectLst/>
              </a:rPr>
              <a:t>schließt</a:t>
            </a:r>
            <a:r>
              <a:rPr lang="en-US" sz="1900" b="0" i="0" u="none" strike="noStrike" dirty="0">
                <a:effectLst/>
              </a:rPr>
              <a:t> das </a:t>
            </a:r>
            <a:r>
              <a:rPr lang="en-US" sz="1900" b="0" i="0" u="none" strike="noStrike" dirty="0" err="1">
                <a:effectLst/>
              </a:rPr>
              <a:t>Abrufen</a:t>
            </a:r>
            <a:r>
              <a:rPr lang="en-US" sz="1900" b="0" i="0" u="none" strike="noStrike" dirty="0">
                <a:effectLst/>
              </a:rPr>
              <a:t> von </a:t>
            </a:r>
            <a:r>
              <a:rPr lang="en-US" sz="1900" b="0" i="0" u="none" strike="noStrike" dirty="0" err="1">
                <a:effectLst/>
              </a:rPr>
              <a:t>Methoden</a:t>
            </a:r>
            <a:r>
              <a:rPr lang="en-US" sz="1900" b="0" i="0" u="none" strike="noStrike" dirty="0">
                <a:effectLst/>
              </a:rPr>
              <a:t>, </a:t>
            </a:r>
            <a:r>
              <a:rPr lang="en-US" sz="1900" b="0" i="0" u="none" strike="noStrike" dirty="0" err="1">
                <a:effectLst/>
              </a:rPr>
              <a:t>Feldern</a:t>
            </a:r>
            <a:r>
              <a:rPr lang="en-US" sz="1900" b="0" i="0" u="none" strike="noStrike" dirty="0">
                <a:effectLst/>
              </a:rPr>
              <a:t>, </a:t>
            </a:r>
            <a:r>
              <a:rPr lang="en-US" sz="1900" b="0" i="0" u="none" strike="noStrike" dirty="0" err="1">
                <a:effectLst/>
              </a:rPr>
              <a:t>Konstruktoren</a:t>
            </a:r>
            <a:r>
              <a:rPr lang="en-US" sz="1900" b="0" i="0" u="none" strike="noStrike" dirty="0">
                <a:effectLst/>
              </a:rPr>
              <a:t> und </a:t>
            </a:r>
            <a:r>
              <a:rPr lang="en-US" sz="1900" b="0" i="0" u="none" strike="noStrike" dirty="0" err="1">
                <a:effectLst/>
              </a:rPr>
              <a:t>Annotationen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mit</a:t>
            </a:r>
            <a:r>
              <a:rPr lang="en-US" sz="1900" b="0" i="0" u="none" strike="noStrike" dirty="0">
                <a:effectLst/>
              </a:rPr>
              <a:t> </a:t>
            </a:r>
            <a:r>
              <a:rPr lang="en-US" sz="1900" b="0" i="0" u="none" strike="noStrike" dirty="0" err="1">
                <a:effectLst/>
              </a:rPr>
              <a:t>ein</a:t>
            </a:r>
            <a:r>
              <a:rPr lang="en-US" sz="1900" b="0" i="0" u="none" strike="noStrike" dirty="0">
                <a:effectLst/>
              </a:rPr>
              <a:t>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79110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42D0B-CBD0-2B59-3CD2-6EAC1087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048F3-01A1-D125-15B2-46FFEB1A5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/>
                </a:solidFill>
              </a:rPr>
              <a:t>Nachteile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 err="1">
                <a:solidFill>
                  <a:schemeClr val="accent2"/>
                </a:solidFill>
              </a:rPr>
              <a:t>komplexes</a:t>
            </a:r>
            <a:r>
              <a:rPr lang="en-US" dirty="0">
                <a:solidFill>
                  <a:schemeClr val="accent2"/>
                </a:solidFill>
              </a:rPr>
              <a:t> debugging, </a:t>
            </a:r>
            <a:r>
              <a:rPr lang="en-US" dirty="0" err="1">
                <a:solidFill>
                  <a:schemeClr val="accent2"/>
                </a:solidFill>
              </a:rPr>
              <a:t>Performanceverlust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sz="2400" dirty="0"/>
              <a:t>Class&lt;T&gt;: </a:t>
            </a:r>
            <a:r>
              <a:rPr lang="en-US" sz="2400" dirty="0" err="1"/>
              <a:t>repräsentiert</a:t>
            </a:r>
            <a:r>
              <a:rPr lang="en-US" sz="2400" dirty="0"/>
              <a:t> Klassen und Interfaces </a:t>
            </a:r>
          </a:p>
          <a:p>
            <a:r>
              <a:rPr lang="en-US" sz="2400" dirty="0"/>
              <a:t>Constructor&lt;T&gt;: </a:t>
            </a:r>
            <a:r>
              <a:rPr lang="en-US" sz="2400" dirty="0" err="1"/>
              <a:t>gibt</a:t>
            </a:r>
            <a:r>
              <a:rPr lang="en-US" sz="2400" dirty="0"/>
              <a:t> </a:t>
            </a:r>
            <a:r>
              <a:rPr lang="en-US" sz="2400" dirty="0" err="1"/>
              <a:t>informationen</a:t>
            </a:r>
            <a:r>
              <a:rPr lang="en-US" sz="2400" dirty="0"/>
              <a:t> </a:t>
            </a:r>
            <a:r>
              <a:rPr lang="en-US" sz="2400" dirty="0" err="1"/>
              <a:t>über</a:t>
            </a:r>
            <a:r>
              <a:rPr lang="en-US" sz="2400" dirty="0"/>
              <a:t> </a:t>
            </a:r>
            <a:r>
              <a:rPr lang="en-US" sz="2400" dirty="0" err="1"/>
              <a:t>Konstruktor</a:t>
            </a:r>
            <a:endParaRPr lang="en-US" sz="2400" dirty="0"/>
          </a:p>
          <a:p>
            <a:r>
              <a:rPr lang="en-US" sz="2400" dirty="0"/>
              <a:t>Field: </a:t>
            </a:r>
            <a:r>
              <a:rPr lang="en-US" sz="2400" dirty="0" err="1"/>
              <a:t>repräsentiert</a:t>
            </a:r>
            <a:r>
              <a:rPr lang="en-US" sz="2400" dirty="0"/>
              <a:t>  Feld von Klasse </a:t>
            </a:r>
            <a:r>
              <a:rPr lang="en-US" sz="2400" dirty="0" err="1"/>
              <a:t>oder</a:t>
            </a:r>
            <a:r>
              <a:rPr lang="en-US" sz="2400" dirty="0"/>
              <a:t> Interface.</a:t>
            </a:r>
          </a:p>
          <a:p>
            <a:r>
              <a:rPr lang="en-US" sz="2400" dirty="0"/>
              <a:t>Method: </a:t>
            </a:r>
            <a:r>
              <a:rPr lang="en-US" sz="2400" dirty="0" err="1"/>
              <a:t>repräsentiert</a:t>
            </a:r>
            <a:r>
              <a:rPr lang="en-US" sz="2400" dirty="0"/>
              <a:t> Methode </a:t>
            </a:r>
          </a:p>
          <a:p>
            <a:r>
              <a:rPr lang="en-US" sz="2400" dirty="0"/>
              <a:t>Parameter: </a:t>
            </a:r>
            <a:r>
              <a:rPr lang="en-US" sz="2400" dirty="0" err="1"/>
              <a:t>repräsentiert</a:t>
            </a:r>
            <a:r>
              <a:rPr lang="en-US" sz="2400" dirty="0"/>
              <a:t> Parameter </a:t>
            </a:r>
            <a:r>
              <a:rPr lang="en-US" sz="2400" dirty="0" err="1"/>
              <a:t>einer</a:t>
            </a:r>
            <a:r>
              <a:rPr lang="en-US" sz="2400" dirty="0"/>
              <a:t> Methode</a:t>
            </a:r>
          </a:p>
          <a:p>
            <a:r>
              <a:rPr lang="en-US" sz="2400" dirty="0"/>
              <a:t>Annotation: </a:t>
            </a:r>
            <a:r>
              <a:rPr lang="en-US" sz="2400" dirty="0" err="1"/>
              <a:t>repräsentiert</a:t>
            </a:r>
            <a:r>
              <a:rPr lang="en-US" sz="2400" dirty="0"/>
              <a:t> Annotation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40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FBD7CD2-4597-200B-8EF8-0CD001F166C5}"/>
              </a:ext>
            </a:extLst>
          </p:cNvPr>
          <p:cNvSpPr/>
          <p:nvPr/>
        </p:nvSpPr>
        <p:spPr>
          <a:xfrm>
            <a:off x="838200" y="3774831"/>
            <a:ext cx="5105400" cy="11723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81B072-9095-1BAC-D621-F9B31D5FF332}"/>
              </a:ext>
            </a:extLst>
          </p:cNvPr>
          <p:cNvSpPr/>
          <p:nvPr/>
        </p:nvSpPr>
        <p:spPr>
          <a:xfrm>
            <a:off x="838200" y="1690688"/>
            <a:ext cx="5257800" cy="8649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19A0E-D150-78C2-FC9B-B04B7C65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bekommt</a:t>
            </a:r>
            <a:r>
              <a:rPr lang="en-US" dirty="0"/>
              <a:t> man Class </a:t>
            </a:r>
            <a:r>
              <a:rPr lang="en-US" dirty="0" err="1"/>
              <a:t>Obejct</a:t>
            </a:r>
            <a:r>
              <a:rPr lang="en-US"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A6818-6C63-D33D-611C-0C9A664B8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Class</a:t>
            </a:r>
            <a:r>
              <a:rPr lang="en-US" dirty="0"/>
              <a:t>&lt;Person&gt; </a:t>
            </a:r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en-US" dirty="0"/>
              <a:t> = </a:t>
            </a:r>
            <a:r>
              <a:rPr lang="en-US" dirty="0" err="1"/>
              <a:t>Person.</a:t>
            </a:r>
            <a:r>
              <a:rPr lang="en-US" dirty="0" err="1">
                <a:solidFill>
                  <a:srgbClr val="7030A0"/>
                </a:solidFill>
              </a:rPr>
              <a:t>class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Oder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Person </a:t>
            </a:r>
            <a:r>
              <a:rPr lang="en-US" dirty="0">
                <a:solidFill>
                  <a:srgbClr val="0070C0"/>
                </a:solidFill>
              </a:rPr>
              <a:t>p</a:t>
            </a:r>
            <a:r>
              <a:rPr lang="en-US" dirty="0"/>
              <a:t> = new Person("Max");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Class&lt;?&gt; </a:t>
            </a:r>
            <a:r>
              <a:rPr lang="en-US" dirty="0">
                <a:solidFill>
                  <a:srgbClr val="0070C0"/>
                </a:solidFill>
              </a:rPr>
              <a:t>c2</a:t>
            </a:r>
            <a:r>
              <a:rPr lang="en-US" dirty="0"/>
              <a:t> = </a:t>
            </a:r>
            <a:r>
              <a:rPr lang="en-US" dirty="0" err="1"/>
              <a:t>p.</a:t>
            </a:r>
            <a:r>
              <a:rPr lang="en-US" dirty="0" err="1">
                <a:solidFill>
                  <a:srgbClr val="7030A0"/>
                </a:solidFill>
              </a:rPr>
              <a:t>getClass</a:t>
            </a:r>
            <a:r>
              <a:rPr lang="en-US" dirty="0">
                <a:solidFill>
                  <a:srgbClr val="7030A0"/>
                </a:solidFill>
              </a:rPr>
              <a:t>();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c.getName</a:t>
            </a:r>
            <a:r>
              <a:rPr lang="en-US" dirty="0"/>
              <a:t>()); // so </a:t>
            </a:r>
            <a:r>
              <a:rPr lang="en-US" dirty="0" err="1"/>
              <a:t>bekommen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Klassennname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4513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GitHUb – Code kommt später</a:t>
            </a:r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8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8770</TotalTime>
  <Words>762</Words>
  <Application>Microsoft Macintosh PowerPoint</Application>
  <PresentationFormat>Widescreen</PresentationFormat>
  <Paragraphs>156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-webkit-standard</vt:lpstr>
      <vt:lpstr>JetBrains Mono</vt:lpstr>
      <vt:lpstr>Aptos</vt:lpstr>
      <vt:lpstr>Aptos Display</vt:lpstr>
      <vt:lpstr>Arial</vt:lpstr>
      <vt:lpstr>Calibri</vt:lpstr>
      <vt:lpstr>Courier New</vt:lpstr>
      <vt:lpstr>Helvetica</vt:lpstr>
      <vt:lpstr>Office Theme</vt:lpstr>
      <vt:lpstr>Anwendungssysteme</vt:lpstr>
      <vt:lpstr>PowerPoint Presentation</vt:lpstr>
      <vt:lpstr>Annotations</vt:lpstr>
      <vt:lpstr>Eigene Annotation </vt:lpstr>
      <vt:lpstr>Annotations</vt:lpstr>
      <vt:lpstr>Eigene Annotation </vt:lpstr>
      <vt:lpstr>Extra Fakt:</vt:lpstr>
      <vt:lpstr>Annotations</vt:lpstr>
      <vt:lpstr>@Target   worauf darf Annotation angewendet werden</vt:lpstr>
      <vt:lpstr>@Target -&gt; wo darf man die Annotation benutzen?</vt:lpstr>
      <vt:lpstr>@Retention Bestimmt, wie lange die Annotation verfügbar ist:</vt:lpstr>
      <vt:lpstr>@Retention -&gt; Wie lange existiert die Annotation?</vt:lpstr>
      <vt:lpstr>Beispiel: source</vt:lpstr>
      <vt:lpstr>@Repeatable </vt:lpstr>
      <vt:lpstr>Zusammenfassung:</vt:lpstr>
      <vt:lpstr>Beispiel: Lombok</vt:lpstr>
      <vt:lpstr>@Log</vt:lpstr>
      <vt:lpstr>Aufgabe</vt:lpstr>
      <vt:lpstr>PowerPoint Presentation</vt:lpstr>
      <vt:lpstr>Reflections</vt:lpstr>
      <vt:lpstr>Wie bekommt man Class Obejct? 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4</cp:revision>
  <dcterms:created xsi:type="dcterms:W3CDTF">2026-04-13T08:21:31Z</dcterms:created>
  <dcterms:modified xsi:type="dcterms:W3CDTF">2026-04-30T10:49:52Z</dcterms:modified>
</cp:coreProperties>
</file>