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85" r:id="rId3"/>
    <p:sldId id="292" r:id="rId4"/>
    <p:sldId id="293" r:id="rId5"/>
    <p:sldId id="301" r:id="rId6"/>
    <p:sldId id="294" r:id="rId7"/>
    <p:sldId id="291" r:id="rId8"/>
    <p:sldId id="302" r:id="rId9"/>
    <p:sldId id="295" r:id="rId10"/>
    <p:sldId id="297" r:id="rId11"/>
    <p:sldId id="299" r:id="rId12"/>
    <p:sldId id="298" r:id="rId13"/>
    <p:sldId id="300" r:id="rId14"/>
    <p:sldId id="328" r:id="rId15"/>
    <p:sldId id="323" r:id="rId16"/>
    <p:sldId id="324" r:id="rId17"/>
    <p:sldId id="329" r:id="rId18"/>
    <p:sldId id="330" r:id="rId19"/>
    <p:sldId id="331" r:id="rId20"/>
    <p:sldId id="332" r:id="rId21"/>
    <p:sldId id="325" r:id="rId22"/>
    <p:sldId id="333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4D05C6-7E78-B242-BB85-AD9FE8946353}" v="108" dt="2026-01-27T10:30:56.0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5280"/>
    <p:restoredTop sz="94815"/>
  </p:normalViewPr>
  <p:slideViewPr>
    <p:cSldViewPr snapToGrid="0">
      <p:cViewPr varScale="1">
        <p:scale>
          <a:sx n="66" d="100"/>
          <a:sy n="66" d="100"/>
        </p:scale>
        <p:origin x="216" y="1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37E95-9087-8C40-AF96-7D8CDED5FC6A}" type="datetimeFigureOut">
              <a:rPr lang="en-US" smtClean="0"/>
              <a:t>4/19/26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2ED37-83AA-D74D-84A2-B74276C00A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122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37E95-9087-8C40-AF96-7D8CDED5FC6A}" type="datetimeFigureOut">
              <a:rPr lang="en-US" smtClean="0"/>
              <a:t>4/19/26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2ED37-83AA-D74D-84A2-B74276C00A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902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37E95-9087-8C40-AF96-7D8CDED5FC6A}" type="datetimeFigureOut">
              <a:rPr lang="en-US" smtClean="0"/>
              <a:t>4/19/26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2ED37-83AA-D74D-84A2-B74276C00A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0576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37E95-9087-8C40-AF96-7D8CDED5FC6A}" type="datetimeFigureOut">
              <a:rPr lang="en-US" smtClean="0"/>
              <a:t>4/19/26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2ED37-83AA-D74D-84A2-B74276C00A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75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37E95-9087-8C40-AF96-7D8CDED5FC6A}" type="datetimeFigureOut">
              <a:rPr lang="en-US" smtClean="0"/>
              <a:t>4/19/26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2ED37-83AA-D74D-84A2-B74276C00AEE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69224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37E95-9087-8C40-AF96-7D8CDED5FC6A}" type="datetimeFigureOut">
              <a:rPr lang="en-US" smtClean="0"/>
              <a:t>4/19/26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2ED37-83AA-D74D-84A2-B74276C00A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368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37E95-9087-8C40-AF96-7D8CDED5FC6A}" type="datetimeFigureOut">
              <a:rPr lang="en-US" smtClean="0"/>
              <a:t>4/19/26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2ED37-83AA-D74D-84A2-B74276C00A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64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37E95-9087-8C40-AF96-7D8CDED5FC6A}" type="datetimeFigureOut">
              <a:rPr lang="en-US" smtClean="0"/>
              <a:t>4/19/26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2ED37-83AA-D74D-84A2-B74276C00A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5064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tx1">
              <a:lumMod val="8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EAA37E95-9087-8C40-AF96-7D8CDED5FC6A}" type="datetimeFigureOut">
              <a:rPr lang="en-US" smtClean="0"/>
              <a:t>4/19/26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2ED37-83AA-D74D-84A2-B74276C00A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5265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37E95-9087-8C40-AF96-7D8CDED5FC6A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2ED37-83AA-D74D-84A2-B74276C00A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958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37E95-9087-8C40-AF96-7D8CDED5FC6A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2ED37-83AA-D74D-84A2-B74276C00A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485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chemeClr val="bg2">
              <a:lumMod val="60000"/>
              <a:lumOff val="40000"/>
              <a:alpha val="15000"/>
            </a:schemeClr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EAA37E95-9087-8C40-AF96-7D8CDED5FC6A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4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9D42ED37-83AA-D74D-84A2-B74276C00A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54411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  <a:lumOff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9FD5B2B-F465-CFA1-4035-BAA350AFD5E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Anne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617DB5B-4013-F819-2743-2EA132AAFE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Anwendungssysteme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Prog1 recap</a:t>
            </a:r>
          </a:p>
        </p:txBody>
      </p:sp>
    </p:spTree>
    <p:extLst>
      <p:ext uri="{BB962C8B-B14F-4D97-AF65-F5344CB8AC3E}">
        <p14:creationId xmlns:p14="http://schemas.microsoft.com/office/powerpoint/2010/main" val="21284657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2D5B28C-36F2-6702-4B1B-0F8685962062}"/>
              </a:ext>
            </a:extLst>
          </p:cNvPr>
          <p:cNvSpPr/>
          <p:nvPr/>
        </p:nvSpPr>
        <p:spPr>
          <a:xfrm>
            <a:off x="999067" y="4704589"/>
            <a:ext cx="10430933" cy="1526878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F667C8F-6201-37CF-9DAE-1B52EBDE41D0}"/>
              </a:ext>
            </a:extLst>
          </p:cNvPr>
          <p:cNvSpPr/>
          <p:nvPr/>
        </p:nvSpPr>
        <p:spPr>
          <a:xfrm>
            <a:off x="2015067" y="2828835"/>
            <a:ext cx="8086876" cy="1556898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C8F75D-D4DD-A7A1-1AD3-7A09985B8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/>
              <a:t>Concurrency</a:t>
            </a:r>
            <a:br>
              <a:rPr lang="en-US" altLang="en-US" cap="none" dirty="0">
                <a:solidFill>
                  <a:schemeClr val="tx1"/>
                </a:solidFill>
                <a:latin typeface="Arial" panose="020B0604020202020204" pitchFamily="34" charset="0"/>
              </a:rPr>
            </a:b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753E552-D04A-F13C-2296-0B2BC52BFE8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231136" y="3007119"/>
            <a:ext cx="7870807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Mehrere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Teile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eines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Programms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können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 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überlappend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 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oder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 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gleichzeitig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 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ausgeführt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werden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052BE13-0DDE-8D2B-E550-E02F30E599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364" y="4704589"/>
            <a:ext cx="9772178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sng" strike="noStrike" cap="none" normalizeH="0" baseline="0" dirty="0" err="1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Wichtig</a:t>
            </a:r>
            <a:r>
              <a:rPr kumimoji="0" lang="en-US" altLang="en-US" sz="2400" b="1" i="0" u="sng" strike="noStrike" cap="none" normalizeH="0" baseline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Concurrency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heißt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 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nicht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zwingend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dass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alles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exakt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gleichzeitig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läuft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auch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 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schnelles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Abwechseln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 (Pseudo-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Parallelität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)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zählt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dazu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9898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EFB14-2288-E1B2-C345-7355DEC48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Bis </a:t>
            </a:r>
            <a:r>
              <a:rPr lang="en-US" dirty="0" err="1"/>
              <a:t>jetzt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4C407-AC1A-C53A-FEF8-AAEE3647BB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6508" y="3567952"/>
            <a:ext cx="2501502" cy="599426"/>
          </a:xfrm>
        </p:spPr>
        <p:txBody>
          <a:bodyPr/>
          <a:lstStyle/>
          <a:p>
            <a:r>
              <a:rPr lang="en-US" dirty="0"/>
              <a:t>Thread 0</a:t>
            </a: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ADE200CF-F557-C3AC-43DD-D8E82ECB7166}"/>
              </a:ext>
            </a:extLst>
          </p:cNvPr>
          <p:cNvSpPr/>
          <p:nvPr/>
        </p:nvSpPr>
        <p:spPr>
          <a:xfrm>
            <a:off x="1754659" y="3920243"/>
            <a:ext cx="9341708" cy="383059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03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DCCCF-39B8-5D70-CE04-1C2D19776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6EC7F-7676-90DB-652C-96E75CE53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jetzt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D7A724-BFAA-2FA8-356F-76BF9AB23E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807" y="2227025"/>
            <a:ext cx="2501502" cy="59942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Thread 0 </a:t>
            </a:r>
            <a:r>
              <a:rPr lang="en-US" dirty="0" err="1"/>
              <a:t>erstellt</a:t>
            </a:r>
            <a:r>
              <a:rPr lang="en-US" dirty="0"/>
              <a:t> thread 1</a:t>
            </a: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2BDD2A42-1268-8144-0BB1-42192E319CCB}"/>
              </a:ext>
            </a:extLst>
          </p:cNvPr>
          <p:cNvSpPr/>
          <p:nvPr/>
        </p:nvSpPr>
        <p:spPr>
          <a:xfrm>
            <a:off x="1649152" y="2610179"/>
            <a:ext cx="9341708" cy="65490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Main(Thread 0)</a:t>
            </a:r>
          </a:p>
        </p:txBody>
      </p:sp>
      <p:sp>
        <p:nvSpPr>
          <p:cNvPr id="4" name="Bent-Up Arrow 3">
            <a:extLst>
              <a:ext uri="{FF2B5EF4-FFF2-40B4-BE49-F238E27FC236}">
                <a16:creationId xmlns:a16="http://schemas.microsoft.com/office/drawing/2014/main" id="{83B71A25-EDEC-4AD2-35A7-F7DD06772C36}"/>
              </a:ext>
            </a:extLst>
          </p:cNvPr>
          <p:cNvSpPr/>
          <p:nvPr/>
        </p:nvSpPr>
        <p:spPr>
          <a:xfrm rot="5400000">
            <a:off x="5746966" y="511502"/>
            <a:ext cx="1146079" cy="6289592"/>
          </a:xfrm>
          <a:prstGeom prst="bentUpArrow">
            <a:avLst>
              <a:gd name="adj1" fmla="val 25000"/>
              <a:gd name="adj2" fmla="val 16509"/>
              <a:gd name="adj3" fmla="val 25000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7766F2-F4C8-7516-FF3B-A17DA223DA58}"/>
              </a:ext>
            </a:extLst>
          </p:cNvPr>
          <p:cNvSpPr txBox="1"/>
          <p:nvPr/>
        </p:nvSpPr>
        <p:spPr>
          <a:xfrm>
            <a:off x="1649152" y="4323825"/>
            <a:ext cx="614770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dirty="0">
                <a:solidFill>
                  <a:srgbClr val="CF8E6D"/>
                </a:solidFill>
                <a:effectLst/>
                <a:latin typeface="JetBrains Mono"/>
              </a:rPr>
              <a:t>public static void </a:t>
            </a:r>
            <a:r>
              <a:rPr lang="en-US" sz="1800" dirty="0">
                <a:solidFill>
                  <a:srgbClr val="56A8F5"/>
                </a:solidFill>
                <a:effectLst/>
                <a:latin typeface="JetBrains Mono"/>
              </a:rPr>
              <a:t>main</a:t>
            </a:r>
            <a:r>
              <a:rPr lang="en-US" sz="1800" dirty="0">
                <a:solidFill>
                  <a:srgbClr val="BCBEC4"/>
                </a:solidFill>
                <a:effectLst/>
                <a:latin typeface="JetBrains Mono"/>
              </a:rPr>
              <a:t>(String[] </a:t>
            </a:r>
            <a:r>
              <a:rPr lang="en-US" sz="1800" dirty="0" err="1">
                <a:solidFill>
                  <a:srgbClr val="BCBEC4"/>
                </a:solidFill>
                <a:effectLst/>
                <a:latin typeface="JetBrains Mono"/>
              </a:rPr>
              <a:t>args</a:t>
            </a:r>
            <a:r>
              <a:rPr lang="en-US" sz="1800" dirty="0">
                <a:solidFill>
                  <a:srgbClr val="BCBEC4"/>
                </a:solidFill>
                <a:effectLst/>
                <a:latin typeface="JetBrains Mono"/>
              </a:rPr>
              <a:t>) {</a:t>
            </a:r>
            <a:br>
              <a:rPr lang="en-US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sz="1800" dirty="0">
                <a:solidFill>
                  <a:srgbClr val="BCBEC4"/>
                </a:solidFill>
                <a:effectLst/>
                <a:latin typeface="JetBrains Mono"/>
              </a:rPr>
              <a:t>Thread t1 = </a:t>
            </a:r>
            <a:r>
              <a:rPr lang="en-US" sz="1800" dirty="0">
                <a:solidFill>
                  <a:srgbClr val="CF8E6D"/>
                </a:solidFill>
                <a:effectLst/>
                <a:latin typeface="JetBrains Mono"/>
              </a:rPr>
              <a:t>new </a:t>
            </a:r>
            <a:r>
              <a:rPr lang="en-US" sz="1800" dirty="0" err="1">
                <a:solidFill>
                  <a:srgbClr val="BCBEC4"/>
                </a:solidFill>
                <a:effectLst/>
                <a:latin typeface="JetBrains Mono"/>
              </a:rPr>
              <a:t>SimpleThread</a:t>
            </a:r>
            <a:r>
              <a:rPr lang="en-US" sz="1800" dirty="0">
                <a:solidFill>
                  <a:srgbClr val="BCBEC4"/>
                </a:solidFill>
                <a:effectLst/>
                <a:latin typeface="JetBrains Mono"/>
              </a:rPr>
              <a:t>();</a:t>
            </a:r>
            <a:br>
              <a:rPr lang="en-US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sz="1800" dirty="0">
                <a:solidFill>
                  <a:srgbClr val="BCBEC4"/>
                </a:solidFill>
                <a:effectLst/>
                <a:latin typeface="JetBrains Mono"/>
              </a:rPr>
              <a:t>			t1.start();</a:t>
            </a:r>
            <a:br>
              <a:rPr lang="en-US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sz="1800" dirty="0">
                <a:solidFill>
                  <a:srgbClr val="BCBEC4"/>
                </a:solidFill>
                <a:effectLst/>
                <a:latin typeface="JetBrains Mono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37316E-4452-15F6-B0F9-AF4845F782FC}"/>
              </a:ext>
            </a:extLst>
          </p:cNvPr>
          <p:cNvSpPr txBox="1"/>
          <p:nvPr/>
        </p:nvSpPr>
        <p:spPr>
          <a:xfrm>
            <a:off x="6015205" y="3860006"/>
            <a:ext cx="1641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T1 (Thread 1)</a:t>
            </a:r>
          </a:p>
        </p:txBody>
      </p:sp>
    </p:spTree>
    <p:extLst>
      <p:ext uri="{BB962C8B-B14F-4D97-AF65-F5344CB8AC3E}">
        <p14:creationId xmlns:p14="http://schemas.microsoft.com/office/powerpoint/2010/main" val="814771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4" grpId="0" animBg="1"/>
      <p:bldP spid="9" grpId="0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B7F83-9534-2FE0-13F5-91ADFBC78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7B085C-6F2B-054B-1FA1-A210070D7802}"/>
              </a:ext>
            </a:extLst>
          </p:cNvPr>
          <p:cNvSpPr txBox="1"/>
          <p:nvPr/>
        </p:nvSpPr>
        <p:spPr>
          <a:xfrm>
            <a:off x="387802" y="2568753"/>
            <a:ext cx="7729727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rgbClr val="CF8E6D"/>
                </a:solidFill>
                <a:effectLst/>
                <a:latin typeface="JetBrains Mono"/>
              </a:rPr>
              <a:t>class </a:t>
            </a:r>
            <a:r>
              <a:rPr lang="en-US" sz="2400" dirty="0" err="1">
                <a:solidFill>
                  <a:srgbClr val="BCBEC4"/>
                </a:solidFill>
                <a:effectLst/>
                <a:latin typeface="JetBrains Mono"/>
              </a:rPr>
              <a:t>SimpleThread</a:t>
            </a:r>
            <a:r>
              <a:rPr lang="en-US" sz="2400" dirty="0">
                <a:solidFill>
                  <a:srgbClr val="BCBEC4"/>
                </a:solidFill>
                <a:effectLst/>
                <a:latin typeface="JetBrains Mono"/>
              </a:rPr>
              <a:t> </a:t>
            </a:r>
            <a:r>
              <a:rPr lang="en-US" sz="2400" dirty="0">
                <a:solidFill>
                  <a:srgbClr val="CF8E6D"/>
                </a:solidFill>
                <a:effectLst/>
                <a:latin typeface="JetBrains Mono"/>
              </a:rPr>
              <a:t>extends </a:t>
            </a:r>
            <a:r>
              <a:rPr lang="en-US" sz="2400" dirty="0">
                <a:solidFill>
                  <a:srgbClr val="BCBEC4"/>
                </a:solidFill>
                <a:effectLst/>
                <a:latin typeface="JetBrains Mono"/>
              </a:rPr>
              <a:t>Thread{</a:t>
            </a:r>
            <a:br>
              <a:rPr lang="en-US" sz="24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sz="24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sz="24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sz="2400" dirty="0">
                <a:solidFill>
                  <a:srgbClr val="B3AE60"/>
                </a:solidFill>
                <a:effectLst/>
                <a:latin typeface="JetBrains Mono"/>
              </a:rPr>
              <a:t>@Override</a:t>
            </a:r>
            <a:br>
              <a:rPr lang="en-US" sz="2400" dirty="0">
                <a:solidFill>
                  <a:srgbClr val="B3AE60"/>
                </a:solidFill>
                <a:effectLst/>
                <a:latin typeface="JetBrains Mono"/>
              </a:rPr>
            </a:br>
            <a:r>
              <a:rPr lang="en-US" sz="2400" dirty="0">
                <a:solidFill>
                  <a:srgbClr val="B3AE60"/>
                </a:solidFill>
                <a:effectLst/>
                <a:latin typeface="JetBrains Mono"/>
              </a:rPr>
              <a:t>    </a:t>
            </a:r>
            <a:r>
              <a:rPr lang="en-US" sz="2400" dirty="0">
                <a:solidFill>
                  <a:srgbClr val="CF8E6D"/>
                </a:solidFill>
                <a:effectLst/>
                <a:latin typeface="JetBrains Mono"/>
              </a:rPr>
              <a:t>public void </a:t>
            </a:r>
            <a:r>
              <a:rPr lang="en-US" sz="2400" dirty="0">
                <a:solidFill>
                  <a:srgbClr val="56A8F5"/>
                </a:solidFill>
                <a:effectLst/>
                <a:latin typeface="JetBrains Mono"/>
              </a:rPr>
              <a:t>run</a:t>
            </a:r>
            <a:r>
              <a:rPr lang="en-US" sz="2400" dirty="0">
                <a:solidFill>
                  <a:srgbClr val="BCBEC4"/>
                </a:solidFill>
                <a:effectLst/>
                <a:latin typeface="JetBrains Mono"/>
              </a:rPr>
              <a:t>(){</a:t>
            </a:r>
            <a:br>
              <a:rPr lang="en-US" sz="24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sz="2400" dirty="0"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lang="en-US" sz="2400" dirty="0" err="1">
                <a:solidFill>
                  <a:srgbClr val="BCBEC4"/>
                </a:solidFill>
                <a:effectLst/>
                <a:latin typeface="JetBrains Mono"/>
              </a:rPr>
              <a:t>System.</a:t>
            </a:r>
            <a:r>
              <a:rPr lang="en-US" sz="2400" i="1" dirty="0" err="1">
                <a:solidFill>
                  <a:srgbClr val="C77DBB"/>
                </a:solidFill>
                <a:effectLst/>
                <a:latin typeface="JetBrains Mono"/>
              </a:rPr>
              <a:t>out</a:t>
            </a:r>
            <a:r>
              <a:rPr lang="en-US" sz="2400" dirty="0" err="1">
                <a:solidFill>
                  <a:srgbClr val="BCBEC4"/>
                </a:solidFill>
                <a:effectLst/>
                <a:latin typeface="JetBrains Mono"/>
              </a:rPr>
              <a:t>.println</a:t>
            </a:r>
            <a:r>
              <a:rPr lang="en-US" sz="24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sz="2400" dirty="0">
                <a:solidFill>
                  <a:srgbClr val="6AAB73"/>
                </a:solidFill>
                <a:effectLst/>
                <a:latin typeface="JetBrains Mono"/>
              </a:rPr>
              <a:t>" I am a simple thread"</a:t>
            </a:r>
            <a:r>
              <a:rPr lang="en-US" sz="2400" dirty="0">
                <a:solidFill>
                  <a:srgbClr val="BCBEC4"/>
                </a:solidFill>
                <a:effectLst/>
                <a:latin typeface="JetBrains Mono"/>
              </a:rPr>
              <a:t>);</a:t>
            </a:r>
            <a:br>
              <a:rPr lang="en-US" sz="24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sz="2400" dirty="0">
                <a:solidFill>
                  <a:srgbClr val="BCBEC4"/>
                </a:solidFill>
                <a:effectLst/>
                <a:latin typeface="JetBrains Mono"/>
              </a:rPr>
              <a:t>    }</a:t>
            </a:r>
            <a:br>
              <a:rPr lang="en-US" sz="24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sz="2400" dirty="0">
                <a:solidFill>
                  <a:srgbClr val="BCBEC4"/>
                </a:solidFill>
                <a:effectLst/>
                <a:latin typeface="JetBrains Mono"/>
              </a:rPr>
              <a:t>}</a:t>
            </a:r>
            <a:br>
              <a:rPr lang="en-US" sz="1800" dirty="0">
                <a:solidFill>
                  <a:srgbClr val="BCBEC4"/>
                </a:solidFill>
                <a:effectLst/>
                <a:latin typeface="JetBrains Mono"/>
              </a:rPr>
            </a:br>
            <a:endParaRPr lang="en-US" sz="1800" dirty="0">
              <a:solidFill>
                <a:srgbClr val="BCBEC4"/>
              </a:solidFill>
              <a:effectLst/>
              <a:latin typeface="JetBrains Mono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BC41BD-DE04-6145-2566-BEC00A72115F}"/>
              </a:ext>
            </a:extLst>
          </p:cNvPr>
          <p:cNvSpPr txBox="1"/>
          <p:nvPr/>
        </p:nvSpPr>
        <p:spPr>
          <a:xfrm>
            <a:off x="6788604" y="2568753"/>
            <a:ext cx="609872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dirty="0">
                <a:solidFill>
                  <a:srgbClr val="CF8E6D"/>
                </a:solidFill>
                <a:effectLst/>
                <a:latin typeface="JetBrains Mono"/>
              </a:rPr>
              <a:t>public static void </a:t>
            </a:r>
            <a:r>
              <a:rPr lang="en-US" sz="1800" dirty="0">
                <a:solidFill>
                  <a:srgbClr val="56A8F5"/>
                </a:solidFill>
                <a:effectLst/>
                <a:latin typeface="JetBrains Mono"/>
              </a:rPr>
              <a:t>main</a:t>
            </a:r>
            <a:r>
              <a:rPr lang="en-US" sz="1800" dirty="0">
                <a:solidFill>
                  <a:srgbClr val="BCBEC4"/>
                </a:solidFill>
                <a:effectLst/>
                <a:latin typeface="JetBrains Mono"/>
              </a:rPr>
              <a:t>(String[] </a:t>
            </a:r>
            <a:r>
              <a:rPr lang="en-US" sz="1800" dirty="0" err="1">
                <a:solidFill>
                  <a:srgbClr val="BCBEC4"/>
                </a:solidFill>
                <a:effectLst/>
                <a:latin typeface="JetBrains Mono"/>
              </a:rPr>
              <a:t>args</a:t>
            </a:r>
            <a:r>
              <a:rPr lang="en-US" sz="1800" dirty="0">
                <a:solidFill>
                  <a:srgbClr val="BCBEC4"/>
                </a:solidFill>
                <a:effectLst/>
                <a:latin typeface="JetBrains Mono"/>
              </a:rPr>
              <a:t>) {</a:t>
            </a:r>
            <a:br>
              <a:rPr lang="en-US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sz="1800" dirty="0">
                <a:solidFill>
                  <a:srgbClr val="BCBEC4"/>
                </a:solidFill>
                <a:effectLst/>
                <a:latin typeface="JetBrains Mono"/>
              </a:rPr>
              <a:t>Thread t1 = </a:t>
            </a:r>
            <a:r>
              <a:rPr lang="en-US" sz="1800" dirty="0">
                <a:solidFill>
                  <a:srgbClr val="CF8E6D"/>
                </a:solidFill>
                <a:effectLst/>
                <a:latin typeface="JetBrains Mono"/>
              </a:rPr>
              <a:t>new </a:t>
            </a:r>
            <a:r>
              <a:rPr lang="en-US" sz="1800" dirty="0" err="1">
                <a:solidFill>
                  <a:srgbClr val="BCBEC4"/>
                </a:solidFill>
                <a:effectLst/>
                <a:latin typeface="JetBrains Mono"/>
              </a:rPr>
              <a:t>SimpleThread</a:t>
            </a:r>
            <a:r>
              <a:rPr lang="en-US" sz="1800" dirty="0">
                <a:solidFill>
                  <a:srgbClr val="BCBEC4"/>
                </a:solidFill>
                <a:effectLst/>
                <a:latin typeface="JetBrains Mono"/>
              </a:rPr>
              <a:t>();</a:t>
            </a:r>
            <a:br>
              <a:rPr lang="en-US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sz="1800" dirty="0">
                <a:solidFill>
                  <a:srgbClr val="BCBEC4"/>
                </a:solidFill>
                <a:effectLst/>
                <a:latin typeface="JetBrains Mono"/>
              </a:rPr>
              <a:t>			t1.start();</a:t>
            </a:r>
            <a:br>
              <a:rPr lang="en-US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sz="1800" dirty="0">
                <a:solidFill>
                  <a:srgbClr val="BCBEC4"/>
                </a:solidFill>
                <a:effectLst/>
                <a:latin typeface="JetBrains Mon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88055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FB4B0E8-C674-4436-5C77-380F4394877B}"/>
              </a:ext>
            </a:extLst>
          </p:cNvPr>
          <p:cNvSpPr/>
          <p:nvPr/>
        </p:nvSpPr>
        <p:spPr>
          <a:xfrm>
            <a:off x="6492445" y="3019792"/>
            <a:ext cx="5037667" cy="2048933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FB9794-65B0-E7E0-144D-CEB174EB8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Möglichkeiten</a:t>
            </a:r>
            <a:r>
              <a:rPr lang="en-US" dirty="0"/>
              <a:t> für </a:t>
            </a:r>
            <a:r>
              <a:rPr lang="en-US" dirty="0" err="1"/>
              <a:t>Umsetzung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5F3E9F-0792-5C7F-EE1F-955E580271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2460587"/>
            <a:ext cx="7594600" cy="3101983"/>
          </a:xfrm>
        </p:spPr>
        <p:txBody>
          <a:bodyPr>
            <a:noAutofit/>
          </a:bodyPr>
          <a:lstStyle/>
          <a:p>
            <a:r>
              <a:rPr lang="en-US" sz="20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Thread (Klasse)</a:t>
            </a:r>
          </a:p>
          <a:p>
            <a:r>
              <a:rPr lang="en-US" sz="20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Thread t1 = new </a:t>
            </a:r>
            <a:r>
              <a:rPr lang="en-US" sz="2000" dirty="0" err="1">
                <a:solidFill>
                  <a:schemeClr val="accent6">
                    <a:lumMod val="40000"/>
                    <a:lumOff val="60000"/>
                  </a:schemeClr>
                </a:solidFill>
              </a:rPr>
              <a:t>MyThread</a:t>
            </a:r>
            <a:r>
              <a:rPr lang="en-US" sz="20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();</a:t>
            </a:r>
          </a:p>
          <a:p>
            <a:pPr marL="0" indent="0">
              <a:buNone/>
            </a:pPr>
            <a:r>
              <a:rPr lang="en-US" sz="2000" dirty="0"/>
              <a:t>→ Falls </a:t>
            </a:r>
            <a:r>
              <a:rPr lang="en-US" sz="2000" dirty="0" err="1"/>
              <a:t>MyThread</a:t>
            </a:r>
            <a:r>
              <a:rPr lang="en-US" sz="2000" dirty="0"/>
              <a:t> von Thread </a:t>
            </a:r>
            <a:r>
              <a:rPr lang="en-US" sz="2000" dirty="0" err="1"/>
              <a:t>erbt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Runnable (Interface)</a:t>
            </a:r>
          </a:p>
          <a:p>
            <a:r>
              <a:rPr lang="en-US" sz="20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Thread t2 = new Thread(new </a:t>
            </a:r>
            <a:r>
              <a:rPr lang="en-US" sz="2000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MyRunnable</a:t>
            </a:r>
            <a:r>
              <a:rPr lang="en-US" sz="20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());</a:t>
            </a:r>
          </a:p>
          <a:p>
            <a:r>
              <a:rPr lang="en-US" sz="2000" dirty="0"/>
              <a:t>→Falls Runnable </a:t>
            </a:r>
            <a:r>
              <a:rPr lang="en-US" sz="2000" dirty="0" err="1"/>
              <a:t>implementiert</a:t>
            </a:r>
            <a:endParaRPr lang="en-US" sz="2000" dirty="0"/>
          </a:p>
          <a:p>
            <a:r>
              <a:rPr lang="en-US" sz="2000" dirty="0"/>
              <a:t>Hier </a:t>
            </a:r>
            <a:r>
              <a:rPr lang="en-US" sz="2000" dirty="0" err="1"/>
              <a:t>können</a:t>
            </a:r>
            <a:r>
              <a:rPr lang="en-US" sz="2000" dirty="0"/>
              <a:t> </a:t>
            </a:r>
            <a:r>
              <a:rPr lang="en-US" sz="2000" dirty="0" err="1"/>
              <a:t>wir</a:t>
            </a:r>
            <a:r>
              <a:rPr lang="en-US" sz="2000" dirty="0"/>
              <a:t> </a:t>
            </a:r>
            <a:r>
              <a:rPr lang="en-US" sz="2000" dirty="0" err="1"/>
              <a:t>auch</a:t>
            </a:r>
            <a:r>
              <a:rPr lang="en-US" sz="2000" dirty="0"/>
              <a:t> von </a:t>
            </a:r>
            <a:r>
              <a:rPr lang="en-US" sz="2000" dirty="0" err="1"/>
              <a:t>anderen</a:t>
            </a:r>
            <a:r>
              <a:rPr lang="en-US" sz="2000" dirty="0"/>
              <a:t> Klassen </a:t>
            </a:r>
            <a:r>
              <a:rPr lang="en-US" sz="2000" dirty="0" err="1"/>
              <a:t>erben</a:t>
            </a:r>
            <a:endParaRPr lang="en-US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AEAD88-9487-ACD9-1386-0DFB6FBB641A}"/>
              </a:ext>
            </a:extLst>
          </p:cNvPr>
          <p:cNvSpPr txBox="1"/>
          <p:nvPr/>
        </p:nvSpPr>
        <p:spPr>
          <a:xfrm>
            <a:off x="6671733" y="3228651"/>
            <a:ext cx="467909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Threads </a:t>
            </a:r>
            <a:r>
              <a:rPr lang="en-US" sz="2000" dirty="0" err="1">
                <a:solidFill>
                  <a:schemeClr val="bg1"/>
                </a:solidFill>
              </a:rPr>
              <a:t>startet</a:t>
            </a:r>
            <a:r>
              <a:rPr lang="en-US" sz="2000" dirty="0">
                <a:solidFill>
                  <a:schemeClr val="bg1"/>
                </a:solidFill>
              </a:rPr>
              <a:t> man IMMER </a:t>
            </a:r>
            <a:r>
              <a:rPr lang="en-US" sz="2000" dirty="0" err="1">
                <a:solidFill>
                  <a:schemeClr val="bg1"/>
                </a:solidFill>
              </a:rPr>
              <a:t>mit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.start()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accent2"/>
                </a:solidFill>
              </a:rPr>
              <a:t>NIEMALS </a:t>
            </a:r>
            <a:r>
              <a:rPr lang="en-US" sz="2000" dirty="0" err="1">
                <a:solidFill>
                  <a:schemeClr val="accent2"/>
                </a:solidFill>
              </a:rPr>
              <a:t>mit</a:t>
            </a:r>
            <a:r>
              <a:rPr lang="en-US" sz="2000" dirty="0">
                <a:solidFill>
                  <a:schemeClr val="accent2"/>
                </a:solidFill>
              </a:rPr>
              <a:t> .run()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accent2"/>
                </a:solidFill>
              </a:rPr>
              <a:t>→ Methode </a:t>
            </a:r>
            <a:r>
              <a:rPr lang="en-US" sz="2000" dirty="0" err="1">
                <a:solidFill>
                  <a:schemeClr val="accent2"/>
                </a:solidFill>
              </a:rPr>
              <a:t>läuft</a:t>
            </a:r>
            <a:r>
              <a:rPr lang="en-US" sz="2000" dirty="0">
                <a:solidFill>
                  <a:schemeClr val="accent2"/>
                </a:solidFill>
              </a:rPr>
              <a:t>, </a:t>
            </a:r>
            <a:r>
              <a:rPr lang="en-US" sz="2000" dirty="0" err="1">
                <a:solidFill>
                  <a:schemeClr val="accent2"/>
                </a:solidFill>
              </a:rPr>
              <a:t>aber</a:t>
            </a:r>
            <a:r>
              <a:rPr lang="en-US" sz="2000" dirty="0">
                <a:solidFill>
                  <a:schemeClr val="accent2"/>
                </a:solidFill>
              </a:rPr>
              <a:t> nicht parallel</a:t>
            </a:r>
          </a:p>
        </p:txBody>
      </p:sp>
    </p:spTree>
    <p:extLst>
      <p:ext uri="{BB962C8B-B14F-4D97-AF65-F5344CB8AC3E}">
        <p14:creationId xmlns:p14="http://schemas.microsoft.com/office/powerpoint/2010/main" val="2791292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3CEDC26-3B5B-0B4D-3327-8724E2011339}"/>
              </a:ext>
            </a:extLst>
          </p:cNvPr>
          <p:cNvSpPr/>
          <p:nvPr/>
        </p:nvSpPr>
        <p:spPr>
          <a:xfrm>
            <a:off x="196948" y="2235286"/>
            <a:ext cx="4487594" cy="414996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1BD826-E049-2C94-5705-42A66BDFC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5142" y="289443"/>
            <a:ext cx="7729728" cy="1188720"/>
          </a:xfrm>
        </p:spPr>
        <p:txBody>
          <a:bodyPr/>
          <a:lstStyle/>
          <a:p>
            <a:r>
              <a:rPr lang="en-US" dirty="0"/>
              <a:t>States </a:t>
            </a:r>
            <a:r>
              <a:rPr lang="en-US" dirty="0" err="1"/>
              <a:t>eines</a:t>
            </a:r>
            <a:r>
              <a:rPr lang="en-US" dirty="0"/>
              <a:t> threads</a:t>
            </a:r>
          </a:p>
        </p:txBody>
      </p:sp>
      <p:pic>
        <p:nvPicPr>
          <p:cNvPr id="5" name="Content Placeholder 4" descr="A diagram of a running process&#10;&#10;AI-generated content may be incorrect.">
            <a:extLst>
              <a:ext uri="{FF2B5EF4-FFF2-40B4-BE49-F238E27FC236}">
                <a16:creationId xmlns:a16="http://schemas.microsoft.com/office/drawing/2014/main" id="{5CE8711F-99AA-BEE4-0C9F-4A9E352217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37760" y="2443468"/>
            <a:ext cx="7216726" cy="3930104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5CFD81C-A379-F394-5C2B-1B3A19B4DAAF}"/>
              </a:ext>
            </a:extLst>
          </p:cNvPr>
          <p:cNvSpPr txBox="1"/>
          <p:nvPr/>
        </p:nvSpPr>
        <p:spPr>
          <a:xfrm>
            <a:off x="5050182" y="1797137"/>
            <a:ext cx="60980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-webkit-standard"/>
              </a:rPr>
              <a:t>Der 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Scheduler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-webkit-standard"/>
              </a:rPr>
              <a:t> des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ea typeface="-webkit-standard"/>
              </a:rPr>
              <a:t>Betriebssystems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-webkit-standard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ea typeface="-webkit-standard"/>
              </a:rPr>
              <a:t>entscheidet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-webkit-standard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ea typeface="-webkit-standard"/>
              </a:rPr>
              <a:t>welcher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-webkit-standard"/>
              </a:rPr>
              <a:t> Thread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ea typeface="-webkit-standard"/>
              </a:rPr>
              <a:t>wann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-webkit-standard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ea typeface="-webkit-standard"/>
              </a:rPr>
              <a:t>läuft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-webkit-standard"/>
              </a:rPr>
              <a:t>.</a:t>
            </a:r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B3457D4-122B-E7EF-264D-B8A9BFDA37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9714210"/>
              </p:ext>
            </p:extLst>
          </p:nvPr>
        </p:nvGraphicFramePr>
        <p:xfrm>
          <a:off x="510287" y="2602523"/>
          <a:ext cx="4075782" cy="3522504"/>
        </p:xfrm>
        <a:graphic>
          <a:graphicData uri="http://schemas.openxmlformats.org/drawingml/2006/table">
            <a:tbl>
              <a:tblPr/>
              <a:tblGrid>
                <a:gridCol w="1852258">
                  <a:extLst>
                    <a:ext uri="{9D8B030D-6E8A-4147-A177-3AD203B41FA5}">
                      <a16:colId xmlns:a16="http://schemas.microsoft.com/office/drawing/2014/main" val="1440062416"/>
                    </a:ext>
                  </a:extLst>
                </a:gridCol>
                <a:gridCol w="2223524">
                  <a:extLst>
                    <a:ext uri="{9D8B030D-6E8A-4147-A177-3AD203B41FA5}">
                      <a16:colId xmlns:a16="http://schemas.microsoft.com/office/drawing/2014/main" val="1224976714"/>
                    </a:ext>
                  </a:extLst>
                </a:gridCol>
              </a:tblGrid>
              <a:tr h="4269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solidFill>
                            <a:schemeClr val="bg1"/>
                          </a:solidFill>
                        </a:rPr>
                        <a:t>Methode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 err="1">
                          <a:solidFill>
                            <a:schemeClr val="bg1"/>
                          </a:solidFill>
                        </a:rPr>
                        <a:t>Bedeutung</a:t>
                      </a:r>
                      <a:endParaRPr lang="en-US" sz="1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0319437"/>
                  </a:ext>
                </a:extLst>
              </a:tr>
              <a:tr h="4269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</a:rPr>
                        <a:t>start()</a:t>
                      </a:r>
                      <a:endParaRPr lang="en-US" sz="1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bg1"/>
                          </a:solidFill>
                        </a:rPr>
                        <a:t>Thread starten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7684578"/>
                  </a:ext>
                </a:extLst>
              </a:tr>
              <a:tr h="4269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</a:rPr>
                        <a:t>run()</a:t>
                      </a:r>
                      <a:endParaRPr lang="en-US" sz="1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Code des Threads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5180366"/>
                  </a:ext>
                </a:extLst>
              </a:tr>
              <a:tr h="7471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</a:rPr>
                        <a:t>sleep()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 err="1">
                          <a:solidFill>
                            <a:schemeClr val="bg1"/>
                          </a:solidFill>
                        </a:rPr>
                        <a:t>aktueller</a:t>
                      </a:r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 Thread </a:t>
                      </a:r>
                      <a:r>
                        <a:rPr lang="en-US" sz="1800" dirty="0" err="1">
                          <a:solidFill>
                            <a:schemeClr val="bg1"/>
                          </a:solidFill>
                        </a:rPr>
                        <a:t>wartet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94327"/>
                  </a:ext>
                </a:extLst>
              </a:tr>
              <a:tr h="7471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</a:rPr>
                        <a:t>join()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dirty="0">
                          <a:solidFill>
                            <a:schemeClr val="bg1"/>
                          </a:solidFill>
                        </a:rPr>
                        <a:t>auf </a:t>
                      </a:r>
                      <a:r>
                        <a:rPr lang="en-US" sz="1800" b="0" dirty="0" err="1">
                          <a:solidFill>
                            <a:schemeClr val="bg1"/>
                          </a:solidFill>
                        </a:rPr>
                        <a:t>anderen</a:t>
                      </a:r>
                      <a:r>
                        <a:rPr lang="en-US" sz="1800" b="0" dirty="0">
                          <a:solidFill>
                            <a:schemeClr val="bg1"/>
                          </a:solidFill>
                        </a:rPr>
                        <a:t> Thread </a:t>
                      </a:r>
                      <a:r>
                        <a:rPr lang="en-US" sz="1800" b="0" dirty="0" err="1">
                          <a:solidFill>
                            <a:schemeClr val="bg1"/>
                          </a:solidFill>
                        </a:rPr>
                        <a:t>warten</a:t>
                      </a:r>
                      <a:endParaRPr lang="en-US" sz="18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7243110"/>
                  </a:ext>
                </a:extLst>
              </a:tr>
              <a:tr h="7471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</a:rPr>
                        <a:t>interrupt()</a:t>
                      </a:r>
                      <a:endParaRPr lang="en-US" sz="1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 err="1">
                          <a:solidFill>
                            <a:schemeClr val="bg1"/>
                          </a:solidFill>
                        </a:rPr>
                        <a:t>Abbruchsignal</a:t>
                      </a:r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bg1"/>
                          </a:solidFill>
                        </a:rPr>
                        <a:t>senden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09817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3013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FFFD6-B0BF-B3F4-91AB-8887DB47F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5" y="605463"/>
            <a:ext cx="7729728" cy="1188720"/>
          </a:xfrm>
        </p:spPr>
        <p:txBody>
          <a:bodyPr/>
          <a:lstStyle/>
          <a:p>
            <a:r>
              <a:rPr lang="en-US" dirty="0"/>
              <a:t>Producer Consumer Problem</a:t>
            </a:r>
          </a:p>
        </p:txBody>
      </p:sp>
      <p:pic>
        <p:nvPicPr>
          <p:cNvPr id="4" name="Content Placeholder 4" descr="A diagram of a job&#10;&#10;AI-generated content may be incorrect.">
            <a:extLst>
              <a:ext uri="{FF2B5EF4-FFF2-40B4-BE49-F238E27FC236}">
                <a16:creationId xmlns:a16="http://schemas.microsoft.com/office/drawing/2014/main" id="{387D401A-18AB-5B54-2B5B-B8CD66D790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5000" y="2153412"/>
            <a:ext cx="11301999" cy="4353553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4791BDD-FF37-2184-1347-A2C3C769AA15}"/>
              </a:ext>
            </a:extLst>
          </p:cNvPr>
          <p:cNvSpPr txBox="1"/>
          <p:nvPr/>
        </p:nvSpPr>
        <p:spPr>
          <a:xfrm>
            <a:off x="636796" y="5298430"/>
            <a:ext cx="318867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Was </a:t>
            </a:r>
            <a:r>
              <a:rPr lang="en-US" sz="2800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ist</a:t>
            </a:r>
            <a:r>
              <a:rPr lang="en-US" sz="28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das </a:t>
            </a:r>
            <a:r>
              <a:rPr lang="en-US" sz="2800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kritische</a:t>
            </a:r>
            <a:r>
              <a:rPr lang="en-US" sz="28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Objekt</a:t>
            </a:r>
            <a:r>
              <a:rPr lang="en-US" sz="28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? 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7260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5FEBBB0-82BF-8951-DA0E-51DF18F65975}"/>
              </a:ext>
            </a:extLst>
          </p:cNvPr>
          <p:cNvSpPr/>
          <p:nvPr/>
        </p:nvSpPr>
        <p:spPr>
          <a:xfrm>
            <a:off x="5894363" y="3953022"/>
            <a:ext cx="4431323" cy="225083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35179D3-BDD4-9BC1-469A-04EB8181A24B}"/>
              </a:ext>
            </a:extLst>
          </p:cNvPr>
          <p:cNvSpPr/>
          <p:nvPr/>
        </p:nvSpPr>
        <p:spPr>
          <a:xfrm>
            <a:off x="281354" y="3938954"/>
            <a:ext cx="5289452" cy="218049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A33311-CA5F-C433-8935-F27B7C0FC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Synchronized()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F8DFB6-54B8-241E-10C0-73C23618D664}"/>
              </a:ext>
            </a:extLst>
          </p:cNvPr>
          <p:cNvSpPr txBox="1"/>
          <p:nvPr/>
        </p:nvSpPr>
        <p:spPr>
          <a:xfrm>
            <a:off x="416169" y="2541724"/>
            <a:ext cx="5019821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W</a:t>
            </a:r>
            <a:r>
              <a:rPr lang="en-US" sz="2400" dirty="0"/>
              <a:t>ie </a:t>
            </a:r>
            <a:r>
              <a:rPr lang="en-US" sz="2400" dirty="0" err="1"/>
              <a:t>kann</a:t>
            </a:r>
            <a:r>
              <a:rPr lang="en-US" sz="2400" dirty="0"/>
              <a:t> man synchronized </a:t>
            </a:r>
            <a:r>
              <a:rPr lang="en-US" sz="2400" dirty="0" err="1"/>
              <a:t>benutzen</a:t>
            </a:r>
            <a:r>
              <a:rPr lang="en-US" sz="2400" dirty="0"/>
              <a:t>?</a:t>
            </a:r>
          </a:p>
          <a:p>
            <a:endParaRPr lang="en-US" sz="2400" dirty="0"/>
          </a:p>
          <a:p>
            <a:r>
              <a:rPr lang="en-US" sz="24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1. synchronized </a:t>
            </a:r>
            <a:r>
              <a:rPr lang="en-US" sz="2400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eine</a:t>
            </a:r>
            <a:r>
              <a:rPr lang="en-US" sz="24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Ganze </a:t>
            </a:r>
            <a:r>
              <a:rPr lang="en-US" sz="2400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Methoden</a:t>
            </a:r>
            <a:r>
              <a:rPr lang="en-US" sz="24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</a:t>
            </a:r>
          </a:p>
          <a:p>
            <a:endParaRPr lang="en-US" sz="2400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sz="2400" dirty="0">
                <a:solidFill>
                  <a:srgbClr val="FF0000"/>
                </a:solidFill>
              </a:rPr>
              <a:t>synchronized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 void 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</a:rPr>
              <a:t>getRessource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(){</a:t>
            </a:r>
          </a:p>
          <a:p>
            <a:endParaRPr lang="en-US" sz="2400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//do something</a:t>
            </a:r>
          </a:p>
          <a:p>
            <a:endParaRPr lang="en-US" sz="2400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} </a:t>
            </a:r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8B36A4-2B4D-AF2B-56FF-799D2218B6D7}"/>
              </a:ext>
            </a:extLst>
          </p:cNvPr>
          <p:cNvSpPr txBox="1"/>
          <p:nvPr/>
        </p:nvSpPr>
        <p:spPr>
          <a:xfrm>
            <a:off x="6096000" y="3218832"/>
            <a:ext cx="626715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2. synchronized-Block </a:t>
            </a:r>
          </a:p>
          <a:p>
            <a:endParaRPr lang="en-US" sz="2400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r>
              <a:rPr lang="en-US" sz="2400" dirty="0">
                <a:solidFill>
                  <a:srgbClr val="FF0000"/>
                </a:solidFill>
              </a:rPr>
              <a:t>synchronized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 (lock) {</a:t>
            </a:r>
          </a:p>
          <a:p>
            <a:endParaRPr lang="en-US" sz="2400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//do something</a:t>
            </a:r>
          </a:p>
          <a:p>
            <a:endParaRPr lang="en-US" sz="2400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734934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9B868-BCD0-A122-7B5C-54B7DC982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diagram of a job&#10;&#10;AI-generated content may be incorrect.">
            <a:extLst>
              <a:ext uri="{FF2B5EF4-FFF2-40B4-BE49-F238E27FC236}">
                <a16:creationId xmlns:a16="http://schemas.microsoft.com/office/drawing/2014/main" id="{38937992-934D-A035-A8C0-5FBC39973F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4651" y="541972"/>
            <a:ext cx="11384951" cy="5774055"/>
          </a:xfrm>
        </p:spPr>
      </p:pic>
    </p:spTree>
    <p:extLst>
      <p:ext uri="{BB962C8B-B14F-4D97-AF65-F5344CB8AC3E}">
        <p14:creationId xmlns:p14="http://schemas.microsoft.com/office/powerpoint/2010/main" val="31618703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1D23D-DF7B-170A-20B4-EF7213EC8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diagram of a job&#10;&#10;AI-generated content may be incorrect.">
            <a:extLst>
              <a:ext uri="{FF2B5EF4-FFF2-40B4-BE49-F238E27FC236}">
                <a16:creationId xmlns:a16="http://schemas.microsoft.com/office/drawing/2014/main" id="{7F5660A4-A041-BB25-4F91-56B0A20B38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9984" y="689683"/>
            <a:ext cx="10800970" cy="5478634"/>
          </a:xfrm>
        </p:spPr>
      </p:pic>
    </p:spTree>
    <p:extLst>
      <p:ext uri="{BB962C8B-B14F-4D97-AF65-F5344CB8AC3E}">
        <p14:creationId xmlns:p14="http://schemas.microsoft.com/office/powerpoint/2010/main" val="17528757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5290C-EB8F-DE8B-38B4-87156E307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Lösung</a:t>
            </a:r>
            <a:endParaRPr lang="en-US" dirty="0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2771D5E-6A18-A4A1-8A85-0592AA328B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6966" y="2436182"/>
            <a:ext cx="10562043" cy="3598858"/>
          </a:xfrm>
        </p:spPr>
      </p:pic>
    </p:spTree>
    <p:extLst>
      <p:ext uri="{BB962C8B-B14F-4D97-AF65-F5344CB8AC3E}">
        <p14:creationId xmlns:p14="http://schemas.microsoft.com/office/powerpoint/2010/main" val="6207366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42D8A-5658-B361-9904-22F162B15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Lösung</a:t>
            </a:r>
            <a:endParaRPr lang="en-US" dirty="0"/>
          </a:p>
        </p:txBody>
      </p:sp>
      <p:pic>
        <p:nvPicPr>
          <p:cNvPr id="5" name="Content Placeholder 4" descr="A computer screen shot of a computer code&#10;&#10;AI-generated content may be incorrect.">
            <a:extLst>
              <a:ext uri="{FF2B5EF4-FFF2-40B4-BE49-F238E27FC236}">
                <a16:creationId xmlns:a16="http://schemas.microsoft.com/office/drawing/2014/main" id="{9DC2B635-8927-143A-AE8C-7023984BB1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6358" y="2513335"/>
            <a:ext cx="11335481" cy="3718652"/>
          </a:xfrm>
        </p:spPr>
      </p:pic>
    </p:spTree>
    <p:extLst>
      <p:ext uri="{BB962C8B-B14F-4D97-AF65-F5344CB8AC3E}">
        <p14:creationId xmlns:p14="http://schemas.microsoft.com/office/powerpoint/2010/main" val="14954651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1AC48-1BFC-AF4B-065F-BBDEA51CE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Socket/Streams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26CDBB-A845-405A-1212-4A16F7BEC4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Streams: </a:t>
            </a:r>
            <a:r>
              <a:rPr lang="en-US" sz="3600" dirty="0" err="1"/>
              <a:t>Datenfluss</a:t>
            </a:r>
            <a:r>
              <a:rPr lang="en-US" sz="3600" dirty="0"/>
              <a:t> </a:t>
            </a:r>
          </a:p>
          <a:p>
            <a:r>
              <a:rPr lang="en-US" sz="36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Sockets: </a:t>
            </a:r>
            <a:r>
              <a:rPr lang="en-US" sz="3600" dirty="0" err="1"/>
              <a:t>Verbindung</a:t>
            </a:r>
            <a:r>
              <a:rPr lang="en-US" sz="3600" dirty="0"/>
              <a:t> -&gt; </a:t>
            </a:r>
            <a:r>
              <a:rPr lang="en-US" sz="3600" dirty="0" err="1"/>
              <a:t>nutzen</a:t>
            </a:r>
            <a:r>
              <a:rPr lang="en-US" sz="3600" dirty="0"/>
              <a:t> Streams </a:t>
            </a:r>
          </a:p>
        </p:txBody>
      </p:sp>
    </p:spTree>
    <p:extLst>
      <p:ext uri="{BB962C8B-B14F-4D97-AF65-F5344CB8AC3E}">
        <p14:creationId xmlns:p14="http://schemas.microsoft.com/office/powerpoint/2010/main" val="2163563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DB5F3-4859-BF98-ADED-6C6778BF8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FC6D9AA-6942-A31E-52FE-EE0ADDAC49A9}"/>
              </a:ext>
            </a:extLst>
          </p:cNvPr>
          <p:cNvSpPr/>
          <p:nvPr/>
        </p:nvSpPr>
        <p:spPr>
          <a:xfrm>
            <a:off x="942975" y="2153412"/>
            <a:ext cx="10515600" cy="31551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6405E2E-AFD7-F42E-79F4-DC92EAA38F68}"/>
              </a:ext>
            </a:extLst>
          </p:cNvPr>
          <p:cNvSpPr/>
          <p:nvPr/>
        </p:nvSpPr>
        <p:spPr>
          <a:xfrm>
            <a:off x="4829175" y="5893308"/>
            <a:ext cx="6415086" cy="76944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FFE8F8-C1A6-2F47-38CA-721CDCBC0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0687" y="642115"/>
            <a:ext cx="7729728" cy="1188720"/>
          </a:xfrm>
        </p:spPr>
        <p:txBody>
          <a:bodyPr/>
          <a:lstStyle/>
          <a:p>
            <a:r>
              <a:rPr lang="en-US" dirty="0"/>
              <a:t>Wie </a:t>
            </a:r>
            <a:r>
              <a:rPr lang="en-US" dirty="0" err="1"/>
              <a:t>machen</a:t>
            </a:r>
            <a:r>
              <a:rPr lang="en-US" dirty="0"/>
              <a:t> </a:t>
            </a:r>
            <a:r>
              <a:rPr lang="en-US" dirty="0" err="1"/>
              <a:t>wir</a:t>
            </a:r>
            <a:r>
              <a:rPr lang="en-US" dirty="0"/>
              <a:t> das </a:t>
            </a:r>
            <a:r>
              <a:rPr lang="en-US" dirty="0" err="1"/>
              <a:t>im</a:t>
            </a:r>
            <a:r>
              <a:rPr lang="en-US" dirty="0"/>
              <a:t> Code?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0AF5C4-DE85-F89D-1535-00261281DA89}"/>
              </a:ext>
            </a:extLst>
          </p:cNvPr>
          <p:cNvSpPr/>
          <p:nvPr/>
        </p:nvSpPr>
        <p:spPr>
          <a:xfrm>
            <a:off x="10772773" y="5308533"/>
            <a:ext cx="71438" cy="46166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3AE150-3B1C-E062-D98C-2533343BF66E}"/>
              </a:ext>
            </a:extLst>
          </p:cNvPr>
          <p:cNvSpPr txBox="1"/>
          <p:nvPr/>
        </p:nvSpPr>
        <p:spPr>
          <a:xfrm>
            <a:off x="4964906" y="5893308"/>
            <a:ext cx="610076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en-US" sz="2000" dirty="0" err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Sobald</a:t>
            </a:r>
            <a:r>
              <a:rPr lang="en-US" sz="20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null </a:t>
            </a:r>
            <a:r>
              <a:rPr lang="en-US" sz="2000" dirty="0" err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eingelesen</a:t>
            </a:r>
            <a:r>
              <a:rPr lang="en-US" sz="20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wird</a:t>
            </a:r>
            <a:r>
              <a:rPr lang="en-US" sz="20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000" dirty="0" err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weiß</a:t>
            </a:r>
            <a:r>
              <a:rPr lang="en-US" sz="20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ich, </a:t>
            </a:r>
            <a:r>
              <a:rPr lang="en-US" sz="2000" dirty="0" err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dass</a:t>
            </a:r>
            <a:r>
              <a:rPr lang="en-US" sz="20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der String </a:t>
            </a:r>
            <a:r>
              <a:rPr lang="en-US" sz="2000" dirty="0" err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vollständig</a:t>
            </a:r>
            <a:r>
              <a:rPr lang="en-US" sz="20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6AE6C6-A45B-D6CF-3FAE-B6A8F390A8B1}"/>
              </a:ext>
            </a:extLst>
          </p:cNvPr>
          <p:cNvSpPr txBox="1"/>
          <p:nvPr/>
        </p:nvSpPr>
        <p:spPr>
          <a:xfrm>
            <a:off x="1328736" y="2607588"/>
            <a:ext cx="9915525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BufferedReader</a:t>
            </a: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1" dirty="0" err="1">
                <a:solidFill>
                  <a:srgbClr val="FF7E3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br</a:t>
            </a: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= new </a:t>
            </a:r>
            <a:r>
              <a:rPr lang="en-US" sz="2000" b="1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BufferedReader</a:t>
            </a:r>
            <a:r>
              <a:rPr lang="en-US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new </a:t>
            </a:r>
            <a:r>
              <a:rPr lang="en-US" sz="2000" b="1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FileReader</a:t>
            </a:r>
            <a:r>
              <a:rPr lang="en-US" sz="20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2000" b="1" dirty="0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"</a:t>
            </a:r>
            <a:r>
              <a:rPr lang="en-US" sz="2000" b="1" dirty="0" err="1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input.txt</a:t>
            </a:r>
            <a:r>
              <a:rPr lang="en-US" sz="20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")</a:t>
            </a:r>
            <a:r>
              <a:rPr lang="en-US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String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result </a:t>
            </a: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= "";</a:t>
            </a:r>
          </a:p>
          <a:p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String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1" dirty="0">
                <a:solidFill>
                  <a:schemeClr val="bg2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line</a:t>
            </a: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= "";</a:t>
            </a:r>
          </a:p>
          <a:p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while ((</a:t>
            </a:r>
            <a:r>
              <a:rPr lang="en-US" sz="2000" b="1" dirty="0">
                <a:solidFill>
                  <a:schemeClr val="bg2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line</a:t>
            </a: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2000" b="1" dirty="0" err="1">
                <a:solidFill>
                  <a:srgbClr val="FF7E3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br</a:t>
            </a:r>
            <a:r>
              <a:rPr lang="en-US" sz="20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.readLine</a:t>
            </a: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()) != </a:t>
            </a:r>
            <a:r>
              <a:rPr lang="en-US" sz="2000" b="1" dirty="0">
                <a:solidFill>
                  <a:srgbClr val="FFC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null</a:t>
            </a: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 {</a:t>
            </a:r>
          </a:p>
          <a:p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result</a:t>
            </a: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+= </a:t>
            </a:r>
            <a:r>
              <a:rPr lang="en-US" sz="2000" b="1" dirty="0">
                <a:solidFill>
                  <a:schemeClr val="bg2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line</a:t>
            </a: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+ "\n";</a:t>
            </a:r>
          </a:p>
          <a:p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r>
              <a:rPr lang="en-US" sz="20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System.out.println</a:t>
            </a: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20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result</a:t>
            </a: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092194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D51C9F0-36B1-1D85-C750-0F7EFEE30565}"/>
              </a:ext>
            </a:extLst>
          </p:cNvPr>
          <p:cNvSpPr/>
          <p:nvPr/>
        </p:nvSpPr>
        <p:spPr>
          <a:xfrm>
            <a:off x="2231136" y="2967335"/>
            <a:ext cx="7729728" cy="140017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96F322-07F4-71EF-24BE-D8D035ED4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Sockets / Streams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0F7E87B-5915-D3FB-90F6-CE142403C30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102674" y="3429000"/>
            <a:ext cx="54582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BufferedReader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 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macht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aus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Zeichen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 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Zeilen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54025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93577-0EA4-D2BE-280A-280BB44AE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Client </a:t>
            </a:r>
            <a:r>
              <a:rPr lang="en-US" dirty="0" err="1"/>
              <a:t>Seite</a:t>
            </a:r>
            <a:r>
              <a:rPr lang="en-US" dirty="0"/>
              <a:t>: Socket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F26F68-0EF3-EAED-D38E-AAAA8403C0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Socket s = new Socket("localhost", 9999);</a:t>
            </a:r>
          </a:p>
          <a:p>
            <a:r>
              <a:rPr lang="en-US" sz="2400" dirty="0"/>
              <a:t>Socket </a:t>
            </a:r>
            <a:r>
              <a:rPr lang="en-US" sz="2400" dirty="0" err="1"/>
              <a:t>erstellen</a:t>
            </a:r>
            <a:r>
              <a:rPr lang="en-US" sz="2400" dirty="0"/>
              <a:t> = </a:t>
            </a:r>
            <a:r>
              <a:rPr lang="en-US" sz="2400" dirty="0" err="1"/>
              <a:t>Verbindung</a:t>
            </a:r>
            <a:r>
              <a:rPr lang="en-US" sz="2400" dirty="0"/>
              <a:t> </a:t>
            </a:r>
            <a:r>
              <a:rPr lang="en-US" sz="2400" dirty="0" err="1"/>
              <a:t>versuchen</a:t>
            </a:r>
            <a:endParaRPr lang="en-US" sz="2400" dirty="0"/>
          </a:p>
          <a:p>
            <a:r>
              <a:rPr lang="en-US" sz="2400" dirty="0"/>
              <a:t>-&gt; </a:t>
            </a:r>
            <a:r>
              <a:rPr lang="en-US" sz="2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der </a:t>
            </a:r>
            <a:r>
              <a:rPr lang="en-US" sz="2400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konstruktor</a:t>
            </a:r>
            <a:r>
              <a:rPr lang="en-US" sz="2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versucht</a:t>
            </a:r>
            <a:r>
              <a:rPr lang="en-US" sz="2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sofort</a:t>
            </a:r>
            <a:r>
              <a:rPr lang="en-US" sz="2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zu</a:t>
            </a:r>
            <a:r>
              <a:rPr lang="en-US" sz="2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verbinden</a:t>
            </a:r>
            <a:endParaRPr lang="en-US" sz="2400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  <a:p>
            <a:r>
              <a:rPr lang="en-US" sz="2400" dirty="0"/>
              <a:t>-&gt; </a:t>
            </a:r>
            <a:r>
              <a:rPr lang="en-US" sz="2400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wenn</a:t>
            </a:r>
            <a:r>
              <a:rPr lang="en-US" sz="24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es nicht </a:t>
            </a:r>
            <a:r>
              <a:rPr lang="en-US" sz="2400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klappt</a:t>
            </a:r>
            <a:r>
              <a:rPr lang="en-US" sz="24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-</a:t>
            </a:r>
            <a:r>
              <a:rPr lang="en-US" sz="2400" dirty="0"/>
              <a:t>&gt; Exception</a:t>
            </a:r>
          </a:p>
        </p:txBody>
      </p:sp>
    </p:spTree>
    <p:extLst>
      <p:ext uri="{BB962C8B-B14F-4D97-AF65-F5344CB8AC3E}">
        <p14:creationId xmlns:p14="http://schemas.microsoft.com/office/powerpoint/2010/main" val="2965637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BCDBDCB-4573-1635-4564-52AC63A297B8}"/>
              </a:ext>
            </a:extLst>
          </p:cNvPr>
          <p:cNvSpPr/>
          <p:nvPr/>
        </p:nvSpPr>
        <p:spPr>
          <a:xfrm>
            <a:off x="6005512" y="5181470"/>
            <a:ext cx="6043612" cy="128728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A25D6F85-81EE-4FF0-324C-FD26DAAEF000}"/>
              </a:ext>
            </a:extLst>
          </p:cNvPr>
          <p:cNvSpPr/>
          <p:nvPr/>
        </p:nvSpPr>
        <p:spPr>
          <a:xfrm>
            <a:off x="312906" y="5257800"/>
            <a:ext cx="5359232" cy="112871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E3D6B25F-7ECC-9713-0CEC-855F8049D108}"/>
              </a:ext>
            </a:extLst>
          </p:cNvPr>
          <p:cNvSpPr/>
          <p:nvPr/>
        </p:nvSpPr>
        <p:spPr>
          <a:xfrm>
            <a:off x="3717131" y="5952963"/>
            <a:ext cx="6796086" cy="759341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2D95231-F911-EFC5-E707-DF115F3F4718}"/>
              </a:ext>
            </a:extLst>
          </p:cNvPr>
          <p:cNvSpPr/>
          <p:nvPr/>
        </p:nvSpPr>
        <p:spPr>
          <a:xfrm>
            <a:off x="2231136" y="2557463"/>
            <a:ext cx="7729728" cy="214712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C35054-6BFB-BB54-AE47-5A224B6BD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Server </a:t>
            </a:r>
            <a:r>
              <a:rPr lang="en-US" dirty="0" err="1"/>
              <a:t>Seite</a:t>
            </a:r>
            <a:r>
              <a:rPr lang="en-US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438CD-F514-D5B0-4E0E-8572F0A0F7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Socket:</a:t>
            </a:r>
          </a:p>
          <a:p>
            <a:r>
              <a:rPr lang="en-US" sz="2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Socket </a:t>
            </a:r>
            <a:r>
              <a:rPr lang="en-US" sz="24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ist</a:t>
            </a:r>
            <a:r>
              <a:rPr lang="en-US" sz="2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Verbindung</a:t>
            </a:r>
            <a:r>
              <a:rPr lang="en-US" sz="2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aber</a:t>
            </a:r>
            <a:r>
              <a:rPr lang="en-US" sz="2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der Client </a:t>
            </a:r>
            <a:r>
              <a:rPr lang="en-US" sz="24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initiiert</a:t>
            </a:r>
            <a:endParaRPr lang="en-US" sz="24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b="1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ServerSocket</a:t>
            </a:r>
            <a:r>
              <a:rPr lang="en-US" sz="2400" dirty="0">
                <a:solidFill>
                  <a:schemeClr val="accent5">
                    <a:lumMod val="40000"/>
                    <a:lumOff val="6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= </a:t>
            </a:r>
            <a:r>
              <a:rPr lang="en-US" sz="24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Rezeption</a:t>
            </a:r>
            <a:r>
              <a:rPr lang="en-US" sz="2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/ Front Desk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4964B9-3D4E-8559-380F-BC8BB5F05C04}"/>
              </a:ext>
            </a:extLst>
          </p:cNvPr>
          <p:cNvSpPr txBox="1"/>
          <p:nvPr/>
        </p:nvSpPr>
        <p:spPr>
          <a:xfrm>
            <a:off x="391886" y="5370695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</a:rPr>
              <a:t>ServerSocket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0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server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 = new </a:t>
            </a: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</a:rPr>
              <a:t>ServerSocket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(9999)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AA4518-8838-1E4C-281E-F0FE4CFD504C}"/>
              </a:ext>
            </a:extLst>
          </p:cNvPr>
          <p:cNvSpPr txBox="1"/>
          <p:nvPr/>
        </p:nvSpPr>
        <p:spPr>
          <a:xfrm>
            <a:off x="391886" y="5740027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Socket client = </a:t>
            </a:r>
            <a:r>
              <a:rPr lang="en-US" sz="2000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server</a:t>
            </a: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</a:rPr>
              <a:t>.accept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();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C5C32844-C8E7-8F02-3282-EB4F273E54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31290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-webkit-standard"/>
              </a:rPr>
              <a:t>. 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88E3BAE-DCB3-9F84-F1B4-A4D7653138D1}"/>
              </a:ext>
            </a:extLst>
          </p:cNvPr>
          <p:cNvSpPr txBox="1"/>
          <p:nvPr/>
        </p:nvSpPr>
        <p:spPr>
          <a:xfrm>
            <a:off x="6096000" y="5367146"/>
            <a:ext cx="61293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3">
                    <a:lumMod val="75000"/>
                  </a:schemeClr>
                </a:solidFill>
              </a:rPr>
              <a:t>Socket s = new Socket("localhost", 9999);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250C5F8-0CDD-DB13-C723-6969E2403C8E}"/>
              </a:ext>
            </a:extLst>
          </p:cNvPr>
          <p:cNvSpPr txBox="1"/>
          <p:nvPr/>
        </p:nvSpPr>
        <p:spPr>
          <a:xfrm>
            <a:off x="312906" y="4416485"/>
            <a:ext cx="21450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Server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AB87149-BAFC-CBD4-8B3F-31EAE3501592}"/>
              </a:ext>
            </a:extLst>
          </p:cNvPr>
          <p:cNvSpPr txBox="1"/>
          <p:nvPr/>
        </p:nvSpPr>
        <p:spPr>
          <a:xfrm>
            <a:off x="10348912" y="4326880"/>
            <a:ext cx="17002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Client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39C4119-2EBC-9287-5749-7C93B3CB17E3}"/>
              </a:ext>
            </a:extLst>
          </p:cNvPr>
          <p:cNvSpPr txBox="1"/>
          <p:nvPr/>
        </p:nvSpPr>
        <p:spPr>
          <a:xfrm>
            <a:off x="3793331" y="6027191"/>
            <a:ext cx="664368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accept() </a:t>
            </a:r>
            <a:r>
              <a:rPr lang="en-US" altLang="en-US" sz="2000" b="1" dirty="0" err="1">
                <a:latin typeface="Calibri" panose="020F0502020204030204" pitchFamily="34" charset="0"/>
                <a:cs typeface="Calibri" panose="020F0502020204030204" pitchFamily="34" charset="0"/>
              </a:rPr>
              <a:t>blockiert</a:t>
            </a:r>
            <a:r>
              <a:rPr lang="en-US" altLang="en-US" sz="2000" dirty="0"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: es </a:t>
            </a:r>
            <a:r>
              <a:rPr lang="en-US" altLang="en-US" sz="2000" dirty="0" err="1"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wartet</a:t>
            </a:r>
            <a:r>
              <a:rPr lang="en-US" altLang="en-US" sz="2000" dirty="0"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, bis </a:t>
            </a:r>
            <a:r>
              <a:rPr lang="en-US" altLang="en-US" sz="2000" dirty="0" err="1"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ein</a:t>
            </a:r>
            <a:r>
              <a:rPr lang="en-US" altLang="en-US" sz="2000" dirty="0"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 Client </a:t>
            </a:r>
            <a:r>
              <a:rPr lang="en-US" altLang="en-US" sz="2000" dirty="0" err="1"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sich</a:t>
            </a:r>
            <a:r>
              <a:rPr lang="en-US" altLang="en-US" sz="2000" dirty="0"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 </a:t>
            </a:r>
            <a:r>
              <a:rPr lang="en-US" altLang="en-US" sz="2000" dirty="0" err="1"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verbindet</a:t>
            </a:r>
            <a:r>
              <a:rPr lang="en-US" altLang="en-US" dirty="0"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.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/>
          </a:p>
        </p:txBody>
      </p:sp>
      <p:sp>
        <p:nvSpPr>
          <p:cNvPr id="21" name="Left Arrow 20">
            <a:extLst>
              <a:ext uri="{FF2B5EF4-FFF2-40B4-BE49-F238E27FC236}">
                <a16:creationId xmlns:a16="http://schemas.microsoft.com/office/drawing/2014/main" id="{3074B9CF-1C96-3F17-D9C8-E3BCCE87D4F9}"/>
              </a:ext>
            </a:extLst>
          </p:cNvPr>
          <p:cNvSpPr/>
          <p:nvPr/>
        </p:nvSpPr>
        <p:spPr>
          <a:xfrm rot="1325146">
            <a:off x="3039481" y="6158277"/>
            <a:ext cx="800809" cy="192496"/>
          </a:xfrm>
          <a:prstGeom prst="lef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ight Arrow 21">
            <a:extLst>
              <a:ext uri="{FF2B5EF4-FFF2-40B4-BE49-F238E27FC236}">
                <a16:creationId xmlns:a16="http://schemas.microsoft.com/office/drawing/2014/main" id="{79AFF6AE-1F67-2E23-B265-28162BC3C2DE}"/>
              </a:ext>
            </a:extLst>
          </p:cNvPr>
          <p:cNvSpPr/>
          <p:nvPr/>
        </p:nvSpPr>
        <p:spPr>
          <a:xfrm rot="20939772">
            <a:off x="8129588" y="5822156"/>
            <a:ext cx="1031080" cy="20503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358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3" grpId="0" build="p"/>
      <p:bldP spid="6" grpId="0"/>
      <p:bldP spid="8" grpId="0"/>
      <p:bldP spid="15" grpId="0"/>
      <p:bldP spid="17" grpId="0"/>
      <p:bldP spid="18" grpId="0"/>
      <p:bldP spid="19" grpId="0"/>
      <p:bldP spid="21" grpId="0" animBg="1"/>
      <p:bldP spid="2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5811B50-C0A3-8ED5-7BDB-C62DE31EEFA6}"/>
              </a:ext>
            </a:extLst>
          </p:cNvPr>
          <p:cNvSpPr/>
          <p:nvPr/>
        </p:nvSpPr>
        <p:spPr>
          <a:xfrm>
            <a:off x="1957388" y="2528888"/>
            <a:ext cx="8643937" cy="34290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4D114F-96B5-DFE3-B85D-AD9FFB376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E5AF65-662B-3EB0-ED5F-466CD7B3D2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Für </a:t>
            </a: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uns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alles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über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Streams-&gt; </a:t>
            </a: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als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Client </a:t>
            </a: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brauchst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du Streams </a:t>
            </a: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vom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und </a:t>
            </a: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zum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Server</a:t>
            </a:r>
          </a:p>
          <a:p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-&gt; </a:t>
            </a:r>
            <a:r>
              <a:rPr lang="en-US" sz="20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aus</a:t>
            </a: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dem Socket </a:t>
            </a:r>
            <a:r>
              <a:rPr lang="en-US" sz="20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bekommst</a:t>
            </a: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du </a:t>
            </a:r>
          </a:p>
          <a:p>
            <a:r>
              <a:rPr lang="en-US" sz="2000" b="1" dirty="0" err="1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InputStream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in = </a:t>
            </a:r>
            <a:r>
              <a:rPr lang="en-US" sz="2000" b="1" dirty="0" err="1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mySocket.getInputStream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();</a:t>
            </a:r>
          </a:p>
          <a:p>
            <a:r>
              <a:rPr lang="en-US" sz="2000" b="1" dirty="0" err="1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OutputStream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out = </a:t>
            </a:r>
            <a:r>
              <a:rPr lang="en-US" sz="2000" b="1" dirty="0" err="1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mySocket.getOutputStream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();</a:t>
            </a:r>
          </a:p>
          <a:p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Wenn Fertig: </a:t>
            </a:r>
            <a:r>
              <a:rPr lang="en-US" sz="2000" b="1" dirty="0" err="1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mySocket.close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();</a:t>
            </a:r>
          </a:p>
          <a:p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-&gt; </a:t>
            </a:r>
            <a:r>
              <a:rPr lang="en-US" sz="20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schließt</a:t>
            </a: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verbindung</a:t>
            </a: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und </a:t>
            </a:r>
            <a:r>
              <a:rPr lang="en-US" sz="20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beide</a:t>
            </a: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Streams</a:t>
            </a:r>
          </a:p>
        </p:txBody>
      </p:sp>
    </p:spTree>
    <p:extLst>
      <p:ext uri="{BB962C8B-B14F-4D97-AF65-F5344CB8AC3E}">
        <p14:creationId xmlns:p14="http://schemas.microsoft.com/office/powerpoint/2010/main" val="515122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D941E-A890-CBE5-BA27-3962542A7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Welcher Stream </a:t>
            </a:r>
            <a:r>
              <a:rPr lang="en-US" dirty="0" err="1"/>
              <a:t>ist</a:t>
            </a:r>
            <a:r>
              <a:rPr lang="en-US" dirty="0"/>
              <a:t> Welcher?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88A6E24-0BB1-C080-ECD6-841F1ACC15B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847850" y="3759696"/>
            <a:ext cx="5670142" cy="15388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accent5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</a:rPr>
              <a:t>InputStream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Daten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von der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anderen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Seite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zu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mir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</a:rPr>
              <a:t>OutputStream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Daten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von mir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zur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anderen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Seite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4027C76-852A-510D-C557-AC5949E5A2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4670363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CE126FB-6EF9-A8C9-1161-22EC72289081}"/>
              </a:ext>
            </a:extLst>
          </p:cNvPr>
          <p:cNvSpPr/>
          <p:nvPr/>
        </p:nvSpPr>
        <p:spPr>
          <a:xfrm>
            <a:off x="8143875" y="3429000"/>
            <a:ext cx="2200275" cy="2200275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BF7B619F-66A8-8EBF-0EF4-E3D792FE338E}"/>
              </a:ext>
            </a:extLst>
          </p:cNvPr>
          <p:cNvSpPr/>
          <p:nvPr/>
        </p:nvSpPr>
        <p:spPr>
          <a:xfrm>
            <a:off x="1676400" y="4214813"/>
            <a:ext cx="7210425" cy="314324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Left Arrow 8">
            <a:extLst>
              <a:ext uri="{FF2B5EF4-FFF2-40B4-BE49-F238E27FC236}">
                <a16:creationId xmlns:a16="http://schemas.microsoft.com/office/drawing/2014/main" id="{8C5BB908-AD7B-3424-2F96-6738CD0B26AA}"/>
              </a:ext>
            </a:extLst>
          </p:cNvPr>
          <p:cNvSpPr/>
          <p:nvPr/>
        </p:nvSpPr>
        <p:spPr>
          <a:xfrm>
            <a:off x="1257300" y="4529137"/>
            <a:ext cx="7543800" cy="325892"/>
          </a:xfrm>
          <a:prstGeom prst="lef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2421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CB42F-1825-96A7-6FCD-AE220ED79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 dirty="0">
                <a:solidFill>
                  <a:srgbClr val="1D2C31"/>
                </a:solidFill>
              </a:rPr>
              <a:t>Aufgabe</a:t>
            </a:r>
          </a:p>
        </p:txBody>
      </p:sp>
      <p:pic>
        <p:nvPicPr>
          <p:cNvPr id="4" name="Content Placeholder 3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2777D757-1319-40AB-AC3C-8A6EEED008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8571" y="2958291"/>
            <a:ext cx="11014857" cy="2340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4860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4BF79-9E18-876B-758F-CCA089D17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GitHUb</a:t>
            </a:r>
            <a:r>
              <a:rPr lang="en-US" dirty="0"/>
              <a:t> – Code </a:t>
            </a:r>
            <a:r>
              <a:rPr lang="en-US" dirty="0" err="1"/>
              <a:t>kommt</a:t>
            </a:r>
            <a:r>
              <a:rPr lang="en-US" dirty="0"/>
              <a:t> </a:t>
            </a:r>
            <a:r>
              <a:rPr lang="en-US" dirty="0" err="1"/>
              <a:t>später</a:t>
            </a:r>
            <a:endParaRPr lang="en-US" dirty="0"/>
          </a:p>
        </p:txBody>
      </p:sp>
      <p:pic>
        <p:nvPicPr>
          <p:cNvPr id="5" name="Content Placeholder 4" descr="A qr code with a black and white background&#10;&#10;AI-generated content may be incorrect.">
            <a:extLst>
              <a:ext uri="{FF2B5EF4-FFF2-40B4-BE49-F238E27FC236}">
                <a16:creationId xmlns:a16="http://schemas.microsoft.com/office/drawing/2014/main" id="{24EC03EC-2ACE-BBDA-FF1A-AA75749279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45013" y="2638425"/>
            <a:ext cx="3101975" cy="3101975"/>
          </a:xfrm>
        </p:spPr>
      </p:pic>
    </p:spTree>
    <p:extLst>
      <p:ext uri="{BB962C8B-B14F-4D97-AF65-F5344CB8AC3E}">
        <p14:creationId xmlns:p14="http://schemas.microsoft.com/office/powerpoint/2010/main" val="1834985710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0BDC4BB7-8AF9-46FD-8C32-AB93AC9C410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2816</TotalTime>
  <Words>565</Words>
  <Application>Microsoft Macintosh PowerPoint</Application>
  <PresentationFormat>Widescreen</PresentationFormat>
  <Paragraphs>110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JetBrains Mono</vt:lpstr>
      <vt:lpstr>Arial</vt:lpstr>
      <vt:lpstr>Calibri</vt:lpstr>
      <vt:lpstr>Courier New</vt:lpstr>
      <vt:lpstr>Gill Sans MT</vt:lpstr>
      <vt:lpstr>Parcel</vt:lpstr>
      <vt:lpstr>Anwendungssysteme  Prog1 recap</vt:lpstr>
      <vt:lpstr>Concurrency </vt:lpstr>
      <vt:lpstr>Bis jetzt </vt:lpstr>
      <vt:lpstr>jetzt </vt:lpstr>
      <vt:lpstr>PowerPoint Presentation</vt:lpstr>
      <vt:lpstr>Möglichkeiten für Umsetzung</vt:lpstr>
      <vt:lpstr>States eines threads</vt:lpstr>
      <vt:lpstr>Producer Consumer Problem</vt:lpstr>
      <vt:lpstr>Synchronized()</vt:lpstr>
      <vt:lpstr>PowerPoint Presentation</vt:lpstr>
      <vt:lpstr>PowerPoint Presentation</vt:lpstr>
      <vt:lpstr>Lösung</vt:lpstr>
      <vt:lpstr>Lösung</vt:lpstr>
      <vt:lpstr>Socket/Streams</vt:lpstr>
      <vt:lpstr>Wie machen wir das im Code?</vt:lpstr>
      <vt:lpstr>Sockets / Streams</vt:lpstr>
      <vt:lpstr>Client Seite: Socket</vt:lpstr>
      <vt:lpstr>Server Seite:</vt:lpstr>
      <vt:lpstr>Streams</vt:lpstr>
      <vt:lpstr>Welcher Stream ist Welcher?</vt:lpstr>
      <vt:lpstr>Aufgabe</vt:lpstr>
      <vt:lpstr>GitHUb – Code kommt später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TU-Pseudonym 17604601235325742515273410334</dc:creator>
  <cp:lastModifiedBy>TU-Pseudonym 17604601235325742515273410334</cp:lastModifiedBy>
  <cp:revision>3</cp:revision>
  <dcterms:created xsi:type="dcterms:W3CDTF">2026-01-20T09:03:50Z</dcterms:created>
  <dcterms:modified xsi:type="dcterms:W3CDTF">2026-04-19T11:56:47Z</dcterms:modified>
</cp:coreProperties>
</file>